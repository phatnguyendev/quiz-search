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sldIdLst>
    <p:sldId id="256" r:id="rId2"/>
    <p:sldId id="258" r:id="rId3"/>
    <p:sldId id="259" r:id="rId4"/>
    <p:sldId id="260" r:id="rId5"/>
    <p:sldId id="261" r:id="rId6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69" d="100"/>
          <a:sy n="69" d="100"/>
        </p:scale>
        <p:origin x="1184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2128" b="1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r>
              <a:rPr lang="en-US" dirty="0"/>
              <a:t>TIỀN NỘP </a:t>
            </a:r>
            <a:r>
              <a:rPr lang="en-US" dirty="0" smtClean="0"/>
              <a:t>NGÂN </a:t>
            </a:r>
            <a:r>
              <a:rPr lang="en-US" dirty="0"/>
              <a:t>SÁCH CÁC NĂM (TỶ VNĐ)</a:t>
            </a:r>
          </a:p>
        </c:rich>
      </c:tx>
      <c:layout>
        <c:manualLayout>
          <c:xMode val="edge"/>
          <c:yMode val="edge"/>
          <c:x val="0.2929061679790026"/>
          <c:y val="1.2500000000000001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128" b="1" i="0" u="none" strike="noStrike" kern="1200" baseline="0">
              <a:solidFill>
                <a:schemeClr val="tx2"/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8.8523786352310493E-2"/>
          <c:y val="0.12956009133644322"/>
          <c:w val="0.91147621364768949"/>
          <c:h val="0.7068571048780735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Sheet1!$A$1</c:f>
              <c:strCache>
                <c:ptCount val="1"/>
                <c:pt idx="0">
                  <c:v>TIỀN NỘP NGAN SÁCH CÁC NĂM (TỶ VNĐ)</c:v>
                </c:pt>
              </c:strCache>
            </c:strRef>
          </c:tx>
          <c:spPr>
            <a:gradFill rotWithShape="1">
              <a:gsLst>
                <a:gs pos="0">
                  <a:schemeClr val="accent2">
                    <a:satMod val="103000"/>
                    <a:lumMod val="102000"/>
                    <a:tint val="94000"/>
                  </a:schemeClr>
                </a:gs>
                <a:gs pos="50000">
                  <a:schemeClr val="accent2">
                    <a:satMod val="110000"/>
                    <a:lumMod val="100000"/>
                    <a:shade val="100000"/>
                  </a:schemeClr>
                </a:gs>
                <a:gs pos="100000">
                  <a:schemeClr val="accent2">
                    <a:lumMod val="99000"/>
                    <a:satMod val="120000"/>
                    <a:shade val="78000"/>
                  </a:schemeClr>
                </a:gs>
              </a:gsLst>
              <a:lin ang="5400000" scaled="0"/>
            </a:gra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gradFill rotWithShape="1">
                <a:gsLst>
                  <a:gs pos="0">
                    <a:schemeClr val="accent2">
                      <a:satMod val="103000"/>
                      <a:lumMod val="102000"/>
                      <a:tint val="94000"/>
                    </a:schemeClr>
                  </a:gs>
                  <a:gs pos="50000">
                    <a:schemeClr val="accent2">
                      <a:satMod val="110000"/>
                      <a:lumMod val="100000"/>
                      <a:shade val="100000"/>
                    </a:schemeClr>
                  </a:gs>
                  <a:gs pos="100000">
                    <a:schemeClr val="accent2">
                      <a:lumMod val="99000"/>
                      <a:satMod val="120000"/>
                      <a:shade val="78000"/>
                    </a:schemeClr>
                  </a:gs>
                </a:gsLst>
                <a:lin ang="5400000" scaled="0"/>
              </a:gra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2-288E-4711-B302-F64D3F354474}"/>
              </c:ext>
            </c:extLst>
          </c:dPt>
          <c:dPt>
            <c:idx val="1"/>
            <c:invertIfNegative val="0"/>
            <c:bubble3D val="0"/>
            <c:spPr>
              <a:solidFill>
                <a:schemeClr val="accent4">
                  <a:lumMod val="75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288E-4711-B302-F64D3F354474}"/>
              </c:ext>
            </c:extLst>
          </c:dPt>
          <c:dPt>
            <c:idx val="2"/>
            <c:invertIfNegative val="0"/>
            <c:bubble3D val="0"/>
            <c:spPr>
              <a:solidFill>
                <a:srgbClr val="0070C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288E-4711-B302-F64D3F354474}"/>
              </c:ext>
            </c:extLst>
          </c:dPt>
          <c:dPt>
            <c:idx val="3"/>
            <c:invertIfNegative val="0"/>
            <c:bubble3D val="0"/>
            <c:explosion val="7"/>
            <c:spPr>
              <a:gradFill rotWithShape="1">
                <a:gsLst>
                  <a:gs pos="0">
                    <a:schemeClr val="accent2">
                      <a:satMod val="103000"/>
                      <a:lumMod val="102000"/>
                      <a:tint val="94000"/>
                    </a:schemeClr>
                  </a:gs>
                  <a:gs pos="50000">
                    <a:schemeClr val="accent2">
                      <a:satMod val="110000"/>
                      <a:lumMod val="100000"/>
                      <a:shade val="100000"/>
                    </a:schemeClr>
                  </a:gs>
                  <a:gs pos="100000">
                    <a:schemeClr val="accent2">
                      <a:lumMod val="99000"/>
                      <a:satMod val="120000"/>
                      <a:shade val="78000"/>
                    </a:schemeClr>
                  </a:gs>
                </a:gsLst>
                <a:lin ang="5400000" scaled="0"/>
              </a:gra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288E-4711-B302-F64D3F354474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2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numRef>
              <c:f>Sheet1!$A$2:$A$5</c:f>
              <c:numCache>
                <c:formatCode>General</c:formatCode>
                <c:ptCount val="4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</c:numCache>
            </c:numRef>
          </c:cat>
          <c:val>
            <c:numRef>
              <c:f>Sheet1!$B$2:$B$5</c:f>
              <c:numCache>
                <c:formatCode>0</c:formatCode>
                <c:ptCount val="4"/>
                <c:pt idx="0">
                  <c:v>315</c:v>
                </c:pt>
                <c:pt idx="1">
                  <c:v>464</c:v>
                </c:pt>
                <c:pt idx="2">
                  <c:v>571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88E-4711-B302-F64D3F35447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-24"/>
        <c:axId val="163370095"/>
        <c:axId val="163364271"/>
      </c:barChart>
      <c:catAx>
        <c:axId val="163370095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2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63364271"/>
        <c:crosses val="autoZero"/>
        <c:auto val="1"/>
        <c:lblAlgn val="ctr"/>
        <c:lblOffset val="100"/>
        <c:noMultiLvlLbl val="0"/>
      </c:catAx>
      <c:valAx>
        <c:axId val="163364271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2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63370095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2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2">
  <a:schemeClr val="accent2"/>
  <a:schemeClr val="accent4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7">
  <cs:axisTitle>
    <cs:lnRef idx="0"/>
    <cs:fillRef idx="0"/>
    <cs:effectRef idx="0"/>
    <cs:fontRef idx="minor">
      <a:schemeClr val="tx2"/>
    </cs:fontRef>
    <cs:defRPr sz="1197" b="1" kern="1200"/>
  </cs:axisTitle>
  <cs:categoryAxis>
    <cs:lnRef idx="0"/>
    <cs:fillRef idx="0"/>
    <cs:effectRef idx="0"/>
    <cs:fontRef idx="minor">
      <a:schemeClr val="tx2"/>
    </cs:fontRef>
    <cs:spPr>
      <a:ln w="9525" cap="flat" cmpd="sng" algn="ctr">
        <a:solidFill>
          <a:schemeClr val="tx2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2"/>
    </cs:fontRef>
    <cs:spPr>
      <a:solidFill>
        <a:schemeClr val="bg1"/>
      </a:solidFill>
      <a:ln w="9525" cap="flat" cmpd="sng" algn="ctr">
        <a:solidFill>
          <a:schemeClr val="tx2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2"/>
    </cs:fontRef>
    <cs:defRPr sz="1197" kern="1200"/>
  </cs:dataLabel>
  <cs:dataLabelCallout>
    <cs:lnRef idx="0"/>
    <cs:fillRef idx="0"/>
    <cs:effectRef idx="0"/>
    <cs:fontRef idx="minor">
      <a:schemeClr val="dk2">
        <a:lumMod val="7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3">
      <cs:styleClr val="auto"/>
    </cs:fillRef>
    <cs:effectRef idx="2"/>
    <cs:fontRef idx="minor">
      <a:schemeClr val="tx2"/>
    </cs:fontRef>
  </cs:dataPoint>
  <cs:dataPoint3D>
    <cs:lnRef idx="0"/>
    <cs:fillRef idx="3">
      <cs:styleClr val="auto"/>
    </cs:fillRef>
    <cs:effectRef idx="2"/>
    <cs:fontRef idx="minor">
      <a:schemeClr val="tx2"/>
    </cs:fontRef>
  </cs:dataPoint3D>
  <cs:dataPointLine>
    <cs:lnRef idx="0">
      <cs:styleClr val="auto"/>
    </cs:lnRef>
    <cs:fillRef idx="3"/>
    <cs:effectRef idx="2"/>
    <cs:fontRef idx="minor">
      <a:schemeClr val="tx2"/>
    </cs:fontRef>
    <cs:spPr>
      <a:ln w="31750" cap="rnd">
        <a:solidFill>
          <a:schemeClr val="phClr"/>
        </a:solidFill>
        <a:round/>
      </a:ln>
    </cs:spPr>
  </cs:dataPointLine>
  <cs:dataPointMarker>
    <cs:lnRef idx="0"/>
    <cs:fillRef idx="3">
      <cs:styleClr val="auto"/>
    </cs:fillRef>
    <cs:effectRef idx="2"/>
    <cs:fontRef idx="minor">
      <a:schemeClr val="tx2"/>
    </cs:fontRef>
    <cs:spPr>
      <a:ln w="12700">
        <a:solidFill>
          <a:schemeClr val="lt2"/>
        </a:solidFill>
        <a:round/>
      </a:ln>
    </cs:spPr>
  </cs:dataPointMarker>
  <cs:dataPointMarkerLayout symbol="circle" size="6"/>
  <cs:dataPointWireframe>
    <cs:lnRef idx="0">
      <cs:styleClr val="auto"/>
    </cs:lnRef>
    <cs:fillRef idx="3"/>
    <cs:effectRef idx="2"/>
    <cs:fontRef idx="minor">
      <a:schemeClr val="tx2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2"/>
    </cs:fontRef>
    <cs:spPr>
      <a:ln w="9525">
        <a:solidFill>
          <a:schemeClr val="tx2">
            <a:lumMod val="15000"/>
            <a:lumOff val="85000"/>
          </a:schemeClr>
        </a:solidFill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2"/>
    </cs:fontRef>
    <cs:spPr>
      <a:ln w="9525">
        <a:solidFill>
          <a:schemeClr val="tx2">
            <a:lumMod val="60000"/>
            <a:lumOff val="40000"/>
          </a:schemeClr>
        </a:solidFill>
        <a:prstDash val="dash"/>
      </a:ln>
    </cs:spPr>
  </cs:dropLine>
  <cs:errorBar>
    <cs:lnRef idx="0"/>
    <cs:fillRef idx="0"/>
    <cs:effectRef idx="0"/>
    <cs:fontRef idx="minor">
      <a:schemeClr val="tx2"/>
    </cs:fontRef>
    <cs:spPr>
      <a:ln w="9525">
        <a:solidFill>
          <a:schemeClr val="tx2">
            <a:lumMod val="75000"/>
            <a:lumOff val="25000"/>
          </a:schemeClr>
        </a:solidFill>
        <a:round/>
      </a:ln>
    </cs:spPr>
  </cs:errorBar>
  <cs:floor>
    <cs:lnRef idx="0"/>
    <cs:fillRef idx="0"/>
    <cs:effectRef idx="0"/>
    <cs:fontRef idx="minor">
      <a:schemeClr val="tx2"/>
    </cs:fontRef>
  </cs:floor>
  <cs:gridlineMajor>
    <cs:lnRef idx="0"/>
    <cs:fillRef idx="0"/>
    <cs:effectRef idx="0"/>
    <cs:fontRef idx="minor">
      <a:schemeClr val="tx2"/>
    </cs:fontRef>
    <cs:spPr>
      <a:ln w="9525" cap="flat" cmpd="sng" algn="ctr">
        <a:solidFill>
          <a:schemeClr val="tx2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2"/>
    </cs:fontRef>
    <cs:spPr>
      <a:ln>
        <a:solidFill>
          <a:schemeClr val="tx2">
            <a:lumMod val="5000"/>
            <a:lumOff val="95000"/>
          </a:schemeClr>
        </a:solidFill>
      </a:ln>
    </cs:spPr>
  </cs:gridlineMinor>
  <cs:hiLoLine>
    <cs:lnRef idx="0"/>
    <cs:fillRef idx="0"/>
    <cs:effectRef idx="0"/>
    <cs:fontRef idx="minor">
      <a:schemeClr val="tx2"/>
    </cs:fontRef>
    <cs:spPr>
      <a:ln w="9525">
        <a:solidFill>
          <a:schemeClr val="tx2">
            <a:lumMod val="60000"/>
            <a:lumOff val="40000"/>
          </a:schemeClr>
        </a:solidFill>
        <a:prstDash val="dash"/>
      </a:ln>
    </cs:spPr>
  </cs:hiLoLine>
  <cs:leaderLine>
    <cs:lnRef idx="0"/>
    <cs:fillRef idx="0"/>
    <cs:effectRef idx="0"/>
    <cs:fontRef idx="minor">
      <a:schemeClr val="tx2"/>
    </cs:fontRef>
    <cs:spPr>
      <a:ln w="9525">
        <a:solidFill>
          <a:schemeClr val="tx2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tx2"/>
    </cs:fontRef>
    <cs:defRPr sz="1197" kern="1200"/>
  </cs:legend>
  <cs:plotArea>
    <cs:lnRef idx="0"/>
    <cs:fillRef idx="0"/>
    <cs:effectRef idx="0"/>
    <cs:fontRef idx="minor">
      <a:schemeClr val="tx2"/>
    </cs:fontRef>
  </cs:plotArea>
  <cs:plotArea3D>
    <cs:lnRef idx="0"/>
    <cs:fillRef idx="0"/>
    <cs:effectRef idx="0"/>
    <cs:fontRef idx="minor">
      <a:schemeClr val="tx2"/>
    </cs:fontRef>
  </cs:plotArea3D>
  <cs:seriesAxis>
    <cs:lnRef idx="0"/>
    <cs:fillRef idx="0"/>
    <cs:effectRef idx="0"/>
    <cs:fontRef idx="minor">
      <a:schemeClr val="tx2"/>
    </cs:fontRef>
    <cs:spPr>
      <a:ln w="9525" cap="flat" cmpd="sng" algn="ctr">
        <a:solidFill>
          <a:schemeClr val="tx2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tx2"/>
    </cs:fontRef>
    <cs:spPr>
      <a:ln w="9525">
        <a:solidFill>
          <a:schemeClr val="tx2">
            <a:lumMod val="60000"/>
            <a:lumOff val="40000"/>
          </a:schemeClr>
        </a:solidFill>
        <a:prstDash val="dash"/>
      </a:ln>
    </cs:spPr>
  </cs:seriesLine>
  <cs:title>
    <cs:lnRef idx="0"/>
    <cs:fillRef idx="0"/>
    <cs:effectRef idx="0"/>
    <cs:fontRef idx="minor">
      <a:schemeClr val="tx2"/>
    </cs:fontRef>
    <cs:defRPr sz="2128" b="1" kern="1200"/>
  </cs:title>
  <cs:trendline>
    <cs:lnRef idx="0">
      <cs:styleClr val="auto"/>
    </cs:lnRef>
    <cs:fillRef idx="0"/>
    <cs:effectRef idx="0"/>
    <cs:fontRef idx="minor">
      <a:schemeClr val="tx2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2"/>
    </cs:fontRef>
    <cs:defRPr sz="1197" kern="1200"/>
  </cs:trendlineLabel>
  <cs:upBar>
    <cs:lnRef idx="0"/>
    <cs:fillRef idx="0"/>
    <cs:effectRef idx="0"/>
    <cs:fontRef idx="minor">
      <a:schemeClr val="tx2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2"/>
    </cs:fontRef>
    <cs:defRPr sz="1197" kern="1200"/>
  </cs:valueAxis>
  <cs:wall>
    <cs:lnRef idx="0"/>
    <cs:fillRef idx="0"/>
    <cs:effectRef idx="0"/>
    <cs:fontRef idx="minor">
      <a:schemeClr val="tx2"/>
    </cs:fontRef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2C31F7-F938-4E9C-A096-F4279C48221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BD8100E-4847-4E14-AD63-8FC7DBAA50C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5ABF85-FD9C-4996-AF82-7BC0438CAD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9211D-10D7-4F49-ADEF-55BEAD014249}" type="datetimeFigureOut">
              <a:rPr lang="en-US" smtClean="0"/>
              <a:t>9/13/2025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829C89-07F4-4094-8039-68D138BA21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4002B5-FED8-447B-9A71-795416630D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98E33A-3E23-44AC-B0F1-7EE9715F20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42885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6A3B59-9016-45B4-BF64-B0006F9006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A13D98-0750-4473-ABAD-664F308C02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1F0891-1140-40DB-9CFA-AE09CFCFF7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9211D-10D7-4F49-ADEF-55BEAD014249}" type="datetimeFigureOut">
              <a:rPr lang="en-US" smtClean="0"/>
              <a:t>9/13/2025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31C5D4-5C2B-4F3D-B9A1-31DF052ABC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F23AB6-A3F6-423B-A37C-B63DC69067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98E33A-3E23-44AC-B0F1-7EE9715F20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82133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2113AE-390C-445C-8146-8F6CA90BEF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709741"/>
            <a:ext cx="7886700" cy="2852737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DA99AFE-0796-402E-A591-A7D20DF0DE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4589466"/>
            <a:ext cx="78867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503351-1C4B-4991-81A4-796FF261C7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9211D-10D7-4F49-ADEF-55BEAD014249}" type="datetimeFigureOut">
              <a:rPr lang="en-US" smtClean="0"/>
              <a:t>9/13/2025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3528DC-B89E-4AF5-99A4-0743AB6005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63EE04-4912-45FE-9736-A2C1A17E35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98E33A-3E23-44AC-B0F1-7EE9715F20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61008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63DE14-A9D3-4A07-B6BF-8D871CCBFF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FFE283-B435-4437-B589-7A289C29432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1040541-AF10-493B-8EDB-DF904945011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8B64021-BC6B-4FCA-A3C1-07A699E4A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9211D-10D7-4F49-ADEF-55BEAD014249}" type="datetimeFigureOut">
              <a:rPr lang="en-US" smtClean="0"/>
              <a:t>9/13/2025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D7C5585-D4C2-4E05-B671-D742C071DF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4F8AC7-018D-4163-A187-DD510BD254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98E33A-3E23-44AC-B0F1-7EE9715F20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07372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883A34-197A-4F88-B345-0CFB5B3EAF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65128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86D580F-0FFE-47B6-B3C9-9435B58C15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88C34F0-332A-4FFD-AFBC-B465C6AFDB9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06C39FA-250B-4EAE-BD66-3CE75C4233A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1" y="1681163"/>
            <a:ext cx="3887391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96CE337-3D65-4375-92F1-B62E999165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1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CADD2E6-9C37-4101-A282-DE7968DA51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9211D-10D7-4F49-ADEF-55BEAD014249}" type="datetimeFigureOut">
              <a:rPr lang="en-US" smtClean="0"/>
              <a:t>9/13/2025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B988E89-5168-4FAA-B8CD-3ECDCE718D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1516471-7F13-4934-8C76-324CB1E28F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98E33A-3E23-44AC-B0F1-7EE9715F20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63665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A89B59-F334-4B19-940C-AB0E91300D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B301E25-2D44-47C2-8D93-EE3E9EE867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9211D-10D7-4F49-ADEF-55BEAD014249}" type="datetimeFigureOut">
              <a:rPr lang="en-US" smtClean="0"/>
              <a:t>9/13/2025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FDDDD1-B568-497F-97C1-7DFD4BACD8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2549EB-CB2D-41CC-8741-AFBC0768AB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98E33A-3E23-44AC-B0F1-7EE9715F20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9221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81F9D5B-8D36-4D72-9E68-7C9BAAD294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9211D-10D7-4F49-ADEF-55BEAD014249}" type="datetimeFigureOut">
              <a:rPr lang="en-US" smtClean="0"/>
              <a:t>9/13/2025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0A8192E-AEBF-41EE-90EA-1F450A6ED7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E883C4-2687-4AF7-B966-E8EE7A5825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98E33A-3E23-44AC-B0F1-7EE9715F20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87071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CBBEC5-009F-4C7F-B34B-FC3BE6F3AB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88BBE9-1CEA-4426-87F9-07E33A2038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391" y="987428"/>
            <a:ext cx="4629150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FC6D7C-7EB6-4E95-9E97-BB40ECB987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EDD0B75-8CB4-4B07-9BD7-46C9098957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9211D-10D7-4F49-ADEF-55BEAD014249}" type="datetimeFigureOut">
              <a:rPr lang="en-US" smtClean="0"/>
              <a:t>9/13/2025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0155AF8-A94C-4710-AE99-170E725F42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89111C7-E815-4E96-B9DB-082429973E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98E33A-3E23-44AC-B0F1-7EE9715F20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2972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13B8BD-CB71-4064-8317-18A7384851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1939EA6-C663-4398-BA37-245E170ABA8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391" y="987428"/>
            <a:ext cx="4629150" cy="4873625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B73E8CA-4CEF-444A-88A4-6CB73729D6A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8F389F6-D8A5-4F55-B4FA-15D60C2C66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9211D-10D7-4F49-ADEF-55BEAD014249}" type="datetimeFigureOut">
              <a:rPr lang="en-US" smtClean="0"/>
              <a:t>9/13/2025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232A61A-F5EF-46A2-9BE4-934C5BF037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A13FF44-C988-4C13-BCCB-C8B0909052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98E33A-3E23-44AC-B0F1-7EE9715F20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22441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A4CBD1-317B-4184-8540-DC2AF8E42E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4B6263B-425C-4936-BC3E-83D2D3A8626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EA9AAF-8452-4300-9ED2-F2D7B2FFD9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9211D-10D7-4F49-ADEF-55BEAD014249}" type="datetimeFigureOut">
              <a:rPr lang="en-US" smtClean="0"/>
              <a:t>9/13/2025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941FC1-FF81-419C-8CF3-A3F0967EDD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80F23B-0785-461F-9E9E-78F8ED3E6A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98E33A-3E23-44AC-B0F1-7EE9715F20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25815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F56845E-8B49-4EB5-8EE2-8F055F654AA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6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E95B40B-11E0-4C32-8229-2B72E009CCA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1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684D00-C866-4EDC-B7BE-5643529C40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9211D-10D7-4F49-ADEF-55BEAD014249}" type="datetimeFigureOut">
              <a:rPr lang="en-US" smtClean="0"/>
              <a:t>9/13/2025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34941C-FAF5-461D-B473-4CCC578309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A8363D-8592-44AE-9FF3-DBB24DF864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98E33A-3E23-44AC-B0F1-7EE9715F20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84554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8BA39C7-D15E-4286-940F-DD022BCDA3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8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A32DA6-5EDB-4ED4-8D79-1635357A5D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85D1D2-8A97-45E4-9A36-250A2FF8598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6356353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499211D-10D7-4F49-ADEF-55BEAD014249}" type="datetimeFigureOut">
              <a:rPr lang="en-US" smtClean="0"/>
              <a:t>9/13/2025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B636F2-B67C-48A1-8AAB-578A3FC0DE0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6356353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DDA827-DA85-4A99-A22C-5814CBB0953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3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198E33A-3E23-44AC-B0F1-7EE9715F20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61028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" Target="slide3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2B8809DC-F3A3-4354-BAEC-C219C472E0B6}"/>
              </a:ext>
            </a:extLst>
          </p:cNvPr>
          <p:cNvSpPr/>
          <p:nvPr/>
        </p:nvSpPr>
        <p:spPr>
          <a:xfrm>
            <a:off x="0" y="6421120"/>
            <a:ext cx="9144000" cy="436880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3" name="Picture 2" descr="A building next to a body of water&#10;&#10;Description automatically generated">
            <a:hlinkClick r:id="rId2" action="ppaction://hlinksldjump"/>
            <a:extLst>
              <a:ext uri="{FF2B5EF4-FFF2-40B4-BE49-F238E27FC236}">
                <a16:creationId xmlns:a16="http://schemas.microsoft.com/office/drawing/2014/main" id="{10728288-F6B5-C54D-1B72-C838839C1B3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14500" y="1419251"/>
            <a:ext cx="5715000" cy="362902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2" name="Rectangle 1"/>
          <p:cNvSpPr/>
          <p:nvPr/>
        </p:nvSpPr>
        <p:spPr>
          <a:xfrm>
            <a:off x="1453636" y="598208"/>
            <a:ext cx="6476706" cy="889770"/>
          </a:xfrm>
          <a:prstGeom prst="rect">
            <a:avLst/>
          </a:prstGeom>
          <a:noFill/>
        </p:spPr>
        <p:txBody>
          <a:bodyPr wrap="none" lIns="91440" tIns="45720" rIns="91440" bIns="45720" numCol="1">
            <a:prstTxWarp prst="textInflateBottom">
              <a:avLst/>
            </a:prstTxWarp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1" i="0" u="none" strike="noStrike" kern="1200" cap="none" spc="0" normalizeH="0" baseline="0" noProof="0" dirty="0">
                <a:ln w="9525">
                  <a:solidFill>
                    <a:prstClr val="white"/>
                  </a:solidFill>
                  <a:prstDash val="solid"/>
                </a:ln>
                <a:solidFill>
                  <a:srgbClr val="5B9BD5"/>
                </a:solidFill>
                <a:effectLst>
                  <a:outerShdw blurRad="12700" dist="38100" dir="2700000" algn="tl" rotWithShape="0">
                    <a:srgbClr val="5B9BD5">
                      <a:lumMod val="60000"/>
                      <a:lumOff val="40000"/>
                    </a:srgbClr>
                  </a:outerShdw>
                </a:effectLst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THỦ ĐÔ HÀ NỘI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864C02D-6610-4BAC-8C05-4B691B58E4D1}"/>
              </a:ext>
            </a:extLst>
          </p:cNvPr>
          <p:cNvSpPr/>
          <p:nvPr/>
        </p:nvSpPr>
        <p:spPr>
          <a:xfrm>
            <a:off x="7930694" y="6411670"/>
            <a:ext cx="1175322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>
                <a:ln w="12700" cmpd="sng">
                  <a:solidFill>
                    <a:srgbClr val="FFC000"/>
                  </a:solidFill>
                  <a:prstDash val="solid"/>
                </a:ln>
                <a:solidFill>
                  <a:srgbClr val="FFFF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Slide </a:t>
            </a:r>
            <a:r>
              <a:rPr kumimoji="0" lang="en-US" sz="2400" b="1" i="0" u="none" strike="noStrike" kern="1200" cap="none" spc="0" normalizeH="0" baseline="0" noProof="0" smtClean="0">
                <a:ln w="12700" cmpd="sng">
                  <a:solidFill>
                    <a:srgbClr val="FFC000"/>
                  </a:solidFill>
                  <a:prstDash val="solid"/>
                </a:ln>
                <a:solidFill>
                  <a:srgbClr val="FFFF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1</a:t>
            </a:r>
            <a:endParaRPr kumimoji="0" lang="en-US" sz="2400" b="1" i="0" u="none" strike="noStrike" kern="1200" cap="none" spc="0" normalizeH="0" baseline="0" noProof="0">
              <a:ln w="12700" cmpd="sng">
                <a:solidFill>
                  <a:srgbClr val="FFC000"/>
                </a:solidFill>
                <a:prstDash val="solid"/>
              </a:ln>
              <a:solidFill>
                <a:srgbClr val="FFFF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48849215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ACDE2B-25E5-423D-8CA6-A1BC1ADCDE3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" y="2"/>
            <a:ext cx="9143999" cy="719221"/>
          </a:xfrm>
        </p:spPr>
        <p:txBody>
          <a:bodyPr>
            <a:normAutofit/>
          </a:bodyPr>
          <a:lstStyle/>
          <a:p>
            <a:r>
              <a:rPr lang="en-US" sz="3600" b="1">
                <a:ln w="6600">
                  <a:solidFill>
                    <a:schemeClr val="accent2"/>
                  </a:solidFill>
                  <a:prstDash val="solid"/>
                </a:ln>
                <a:solidFill>
                  <a:srgbClr val="0070C0"/>
                </a:solidFill>
                <a:effectLst>
                  <a:outerShdw dist="38100" dir="2700000" algn="tl" rotWithShape="0">
                    <a:schemeClr val="accent2"/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GIỚI THIỆU VỀ HÀ NỘI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B8809DC-F3A3-4354-BAEC-C219C472E0B6}"/>
              </a:ext>
            </a:extLst>
          </p:cNvPr>
          <p:cNvSpPr/>
          <p:nvPr/>
        </p:nvSpPr>
        <p:spPr>
          <a:xfrm>
            <a:off x="0" y="6421120"/>
            <a:ext cx="9144000" cy="436880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981D09CA-D5B0-4BD9-B9B7-97B9E8C2FB4C}"/>
              </a:ext>
            </a:extLst>
          </p:cNvPr>
          <p:cNvSpPr/>
          <p:nvPr/>
        </p:nvSpPr>
        <p:spPr>
          <a:xfrm>
            <a:off x="0" y="0"/>
            <a:ext cx="9144000" cy="711200"/>
          </a:xfrm>
          <a:prstGeom prst="roundRect">
            <a:avLst/>
          </a:prstGeom>
          <a:noFill/>
          <a:ln w="28575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3D971DDC-5744-472F-AA7E-91EE0CE05497}"/>
              </a:ext>
            </a:extLst>
          </p:cNvPr>
          <p:cNvSpPr txBox="1">
            <a:spLocks/>
          </p:cNvSpPr>
          <p:nvPr/>
        </p:nvSpPr>
        <p:spPr>
          <a:xfrm>
            <a:off x="142509" y="1492350"/>
            <a:ext cx="8858985" cy="242269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5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457200" marR="0" lvl="0" indent="-457200" algn="just" defTabSz="6858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300"/>
              </a:spcAft>
              <a:buClrTx/>
              <a:buSzTx/>
              <a:buFont typeface="Wingdings" panose="05000000000000000000" pitchFamily="2" charset="2"/>
              <a:buChar char="v"/>
              <a:tabLst/>
              <a:defRPr/>
            </a:pPr>
            <a:r>
              <a:rPr kumimoji="0" lang="vi-VN" sz="2600" b="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uLnTx/>
                <a:uFillTx/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Hà Nội là thủ đô của nước Cộng hòa xã hội chủ nghĩa Việt Nam và cũng là kinh đô của hầu hết các vương triều phong kiến Việt trước đây. </a:t>
            </a:r>
            <a:endParaRPr kumimoji="0" lang="en-US" sz="2600" b="0" i="0" u="none" strike="noStrike" kern="1200" cap="none" spc="0" normalizeH="0" baseline="0" noProof="0" dirty="0">
              <a:ln w="0"/>
              <a:solidFill>
                <a:prstClr val="black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uLnTx/>
              <a:uFillTx/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  <a:p>
            <a:pPr marL="457200" marR="0" lvl="0" indent="-457200" algn="just" defTabSz="6858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v"/>
              <a:tabLst/>
              <a:defRPr/>
            </a:pPr>
            <a:r>
              <a:rPr kumimoji="0" lang="vi-VN" sz="2600" b="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uLnTx/>
                <a:uFillTx/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Do đó, lịch sử Hà Nội gắn liền với sự thăng trầm của lịch sử Việt Nam qua các thời kỳ.</a:t>
            </a:r>
            <a:r>
              <a:rPr kumimoji="0" lang="en-US" sz="2600" b="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uLnTx/>
                <a:uFillTx/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..</a:t>
            </a:r>
          </a:p>
          <a:p>
            <a:pPr marL="457200" marR="0" lvl="0" indent="-457200" algn="just" defTabSz="6858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q"/>
              <a:tabLst/>
              <a:defRPr/>
            </a:pPr>
            <a:endParaRPr kumimoji="0" lang="en-US" sz="2600" b="0" i="0" u="none" strike="noStrike" kern="1200" cap="none" spc="0" normalizeH="0" baseline="0" noProof="0" dirty="0">
              <a:ln w="0"/>
              <a:solidFill>
                <a:prstClr val="black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uLnTx/>
              <a:uFillTx/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864C02D-6610-4BAC-8C05-4B691B58E4D1}"/>
              </a:ext>
            </a:extLst>
          </p:cNvPr>
          <p:cNvSpPr/>
          <p:nvPr/>
        </p:nvSpPr>
        <p:spPr>
          <a:xfrm>
            <a:off x="7930694" y="6411670"/>
            <a:ext cx="1175322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>
                <a:ln w="12700" cmpd="sng">
                  <a:solidFill>
                    <a:srgbClr val="FFC000"/>
                  </a:solidFill>
                  <a:prstDash val="solid"/>
                </a:ln>
                <a:solidFill>
                  <a:srgbClr val="FFFF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Slide 2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187" y="4244754"/>
            <a:ext cx="7717627" cy="923330"/>
          </a:xfrm>
          <a:prstGeom prst="rect">
            <a:avLst/>
          </a:prstGeom>
          <a:noFill/>
        </p:spPr>
        <p:txBody>
          <a:bodyPr wrap="none" lIns="91440" tIns="45720" rIns="91440" bIns="45720" numCol="1">
            <a:prstTxWarp prst="textStop">
              <a:avLst/>
            </a:prstTxWarp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1" i="0" u="none" strike="noStrike" kern="1200" cap="none" spc="0" normalizeH="0" baseline="0" noProof="0" dirty="0" err="1">
                <a:ln w="9525">
                  <a:solidFill>
                    <a:prstClr val="white"/>
                  </a:solidFill>
                  <a:prstDash val="solid"/>
                </a:ln>
                <a:solidFill>
                  <a:srgbClr val="5B9BD5"/>
                </a:solidFill>
                <a:effectLst>
                  <a:outerShdw blurRad="12700" dist="38100" dir="2700000" algn="tl" rotWithShape="0">
                    <a:srgbClr val="5B9BD5">
                      <a:lumMod val="60000"/>
                      <a:lumOff val="40000"/>
                    </a:srgbClr>
                  </a:outerShdw>
                </a:effectLst>
                <a:uLnTx/>
                <a:uFillTx/>
                <a:latin typeface="Calibri" panose="020F0502020204030204"/>
                <a:ea typeface="+mn-ea"/>
                <a:cs typeface="+mn-cs"/>
              </a:rPr>
              <a:t>Hà</a:t>
            </a:r>
            <a:r>
              <a:rPr kumimoji="0" lang="en-US" sz="5400" b="1" i="0" u="none" strike="noStrike" kern="1200" cap="none" spc="0" normalizeH="0" baseline="0" noProof="0" dirty="0">
                <a:ln w="9525">
                  <a:solidFill>
                    <a:prstClr val="white"/>
                  </a:solidFill>
                  <a:prstDash val="solid"/>
                </a:ln>
                <a:solidFill>
                  <a:srgbClr val="5B9BD5"/>
                </a:solidFill>
                <a:effectLst>
                  <a:outerShdw blurRad="12700" dist="38100" dir="2700000" algn="tl" rotWithShape="0">
                    <a:srgbClr val="5B9BD5">
                      <a:lumMod val="60000"/>
                      <a:lumOff val="40000"/>
                    </a:srgbClr>
                  </a:outerShdw>
                </a:effectLst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5400" b="1" i="0" u="none" strike="noStrike" kern="1200" cap="none" spc="0" normalizeH="0" baseline="0" noProof="0" dirty="0" err="1">
                <a:ln w="9525">
                  <a:solidFill>
                    <a:prstClr val="white"/>
                  </a:solidFill>
                  <a:prstDash val="solid"/>
                </a:ln>
                <a:solidFill>
                  <a:srgbClr val="5B9BD5"/>
                </a:solidFill>
                <a:effectLst>
                  <a:outerShdw blurRad="12700" dist="38100" dir="2700000" algn="tl" rotWithShape="0">
                    <a:srgbClr val="5B9BD5">
                      <a:lumMod val="60000"/>
                      <a:lumOff val="40000"/>
                    </a:srgbClr>
                  </a:outerShdw>
                </a:effectLst>
                <a:uLnTx/>
                <a:uFillTx/>
                <a:latin typeface="Calibri" panose="020F0502020204030204"/>
                <a:ea typeface="+mn-ea"/>
                <a:cs typeface="+mn-cs"/>
              </a:rPr>
              <a:t>Nội</a:t>
            </a:r>
            <a:r>
              <a:rPr kumimoji="0" lang="en-US" sz="5400" b="1" i="0" u="none" strike="noStrike" kern="1200" cap="none" spc="0" normalizeH="0" baseline="0" noProof="0" dirty="0">
                <a:ln w="9525">
                  <a:solidFill>
                    <a:prstClr val="white"/>
                  </a:solidFill>
                  <a:prstDash val="solid"/>
                </a:ln>
                <a:solidFill>
                  <a:srgbClr val="5B9BD5"/>
                </a:solidFill>
                <a:effectLst>
                  <a:outerShdw blurRad="12700" dist="38100" dir="2700000" algn="tl" rotWithShape="0">
                    <a:srgbClr val="5B9BD5">
                      <a:lumMod val="60000"/>
                      <a:lumOff val="40000"/>
                    </a:srgbClr>
                  </a:outerShdw>
                </a:effectLst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5400" b="1" i="0" u="none" strike="noStrike" kern="1200" cap="none" spc="0" normalizeH="0" baseline="0" noProof="0" dirty="0" err="1">
                <a:ln w="9525">
                  <a:solidFill>
                    <a:prstClr val="white"/>
                  </a:solidFill>
                  <a:prstDash val="solid"/>
                </a:ln>
                <a:solidFill>
                  <a:srgbClr val="5B9BD5"/>
                </a:solidFill>
                <a:effectLst>
                  <a:outerShdw blurRad="12700" dist="38100" dir="2700000" algn="tl" rotWithShape="0">
                    <a:srgbClr val="5B9BD5">
                      <a:lumMod val="60000"/>
                      <a:lumOff val="40000"/>
                    </a:srgbClr>
                  </a:outerShdw>
                </a:effectLst>
                <a:uLnTx/>
                <a:uFillTx/>
                <a:latin typeface="Calibri" panose="020F0502020204030204"/>
                <a:ea typeface="+mn-ea"/>
                <a:cs typeface="+mn-cs"/>
              </a:rPr>
              <a:t>ngàn</a:t>
            </a:r>
            <a:r>
              <a:rPr kumimoji="0" lang="en-US" sz="5400" b="1" i="0" u="none" strike="noStrike" kern="1200" cap="none" spc="0" normalizeH="0" baseline="0" noProof="0" dirty="0">
                <a:ln w="9525">
                  <a:solidFill>
                    <a:prstClr val="white"/>
                  </a:solidFill>
                  <a:prstDash val="solid"/>
                </a:ln>
                <a:solidFill>
                  <a:srgbClr val="5B9BD5"/>
                </a:solidFill>
                <a:effectLst>
                  <a:outerShdw blurRad="12700" dist="38100" dir="2700000" algn="tl" rotWithShape="0">
                    <a:srgbClr val="5B9BD5">
                      <a:lumMod val="60000"/>
                      <a:lumOff val="40000"/>
                    </a:srgbClr>
                  </a:outerShdw>
                </a:effectLst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5400" b="1" i="0" u="none" strike="noStrike" kern="1200" cap="none" spc="0" normalizeH="0" baseline="0" noProof="0" dirty="0" err="1">
                <a:ln w="9525">
                  <a:solidFill>
                    <a:prstClr val="white"/>
                  </a:solidFill>
                  <a:prstDash val="solid"/>
                </a:ln>
                <a:solidFill>
                  <a:srgbClr val="5B9BD5"/>
                </a:solidFill>
                <a:effectLst>
                  <a:outerShdw blurRad="12700" dist="38100" dir="2700000" algn="tl" rotWithShape="0">
                    <a:srgbClr val="5B9BD5">
                      <a:lumMod val="60000"/>
                      <a:lumOff val="40000"/>
                    </a:srgbClr>
                  </a:outerShdw>
                </a:effectLst>
                <a:uLnTx/>
                <a:uFillTx/>
                <a:latin typeface="Calibri" panose="020F0502020204030204"/>
                <a:ea typeface="+mn-ea"/>
                <a:cs typeface="+mn-cs"/>
              </a:rPr>
              <a:t>năm</a:t>
            </a:r>
            <a:r>
              <a:rPr kumimoji="0" lang="en-US" sz="5400" b="1" i="0" u="none" strike="noStrike" kern="1200" cap="none" spc="0" normalizeH="0" baseline="0" noProof="0" dirty="0">
                <a:ln w="9525">
                  <a:solidFill>
                    <a:prstClr val="white"/>
                  </a:solidFill>
                  <a:prstDash val="solid"/>
                </a:ln>
                <a:solidFill>
                  <a:srgbClr val="5B9BD5"/>
                </a:solidFill>
                <a:effectLst>
                  <a:outerShdw blurRad="12700" dist="38100" dir="2700000" algn="tl" rotWithShape="0">
                    <a:srgbClr val="5B9BD5">
                      <a:lumMod val="60000"/>
                      <a:lumOff val="40000"/>
                    </a:srgbClr>
                  </a:outerShdw>
                </a:effectLst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5400" b="1" i="0" u="none" strike="noStrike" kern="1200" cap="none" spc="0" normalizeH="0" baseline="0" noProof="0" dirty="0" err="1">
                <a:ln w="9525">
                  <a:solidFill>
                    <a:prstClr val="white"/>
                  </a:solidFill>
                  <a:prstDash val="solid"/>
                </a:ln>
                <a:solidFill>
                  <a:srgbClr val="5B9BD5"/>
                </a:solidFill>
                <a:effectLst>
                  <a:outerShdw blurRad="12700" dist="38100" dir="2700000" algn="tl" rotWithShape="0">
                    <a:srgbClr val="5B9BD5">
                      <a:lumMod val="60000"/>
                      <a:lumOff val="40000"/>
                    </a:srgbClr>
                  </a:outerShdw>
                </a:effectLst>
                <a:uLnTx/>
                <a:uFillTx/>
                <a:latin typeface="Calibri" panose="020F0502020204030204"/>
                <a:ea typeface="+mn-ea"/>
                <a:cs typeface="+mn-cs"/>
              </a:rPr>
              <a:t>văn</a:t>
            </a:r>
            <a:r>
              <a:rPr kumimoji="0" lang="en-US" sz="5400" b="1" i="0" u="none" strike="noStrike" kern="1200" cap="none" spc="0" normalizeH="0" baseline="0" noProof="0" dirty="0">
                <a:ln w="9525">
                  <a:solidFill>
                    <a:prstClr val="white"/>
                  </a:solidFill>
                  <a:prstDash val="solid"/>
                </a:ln>
                <a:solidFill>
                  <a:srgbClr val="5B9BD5"/>
                </a:solidFill>
                <a:effectLst>
                  <a:outerShdw blurRad="12700" dist="38100" dir="2700000" algn="tl" rotWithShape="0">
                    <a:srgbClr val="5B9BD5">
                      <a:lumMod val="60000"/>
                      <a:lumOff val="40000"/>
                    </a:srgbClr>
                  </a:outerShdw>
                </a:effectLst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5400" b="1" i="0" u="none" strike="noStrike" kern="1200" cap="none" spc="0" normalizeH="0" baseline="0" noProof="0" dirty="0" err="1">
                <a:ln w="9525">
                  <a:solidFill>
                    <a:prstClr val="white"/>
                  </a:solidFill>
                  <a:prstDash val="solid"/>
                </a:ln>
                <a:solidFill>
                  <a:srgbClr val="5B9BD5"/>
                </a:solidFill>
                <a:effectLst>
                  <a:outerShdw blurRad="12700" dist="38100" dir="2700000" algn="tl" rotWithShape="0">
                    <a:srgbClr val="5B9BD5">
                      <a:lumMod val="60000"/>
                      <a:lumOff val="40000"/>
                    </a:srgbClr>
                  </a:outerShdw>
                </a:effectLst>
                <a:uLnTx/>
                <a:uFillTx/>
                <a:latin typeface="Calibri" panose="020F0502020204030204"/>
                <a:ea typeface="+mn-ea"/>
                <a:cs typeface="+mn-cs"/>
              </a:rPr>
              <a:t>hiến</a:t>
            </a:r>
            <a:endParaRPr kumimoji="0" lang="en-US" sz="5400" b="1" i="0" u="none" strike="noStrike" kern="1200" cap="none" spc="0" normalizeH="0" baseline="0" noProof="0" dirty="0">
              <a:ln w="9525">
                <a:solidFill>
                  <a:prstClr val="white"/>
                </a:solidFill>
                <a:prstDash val="solid"/>
              </a:ln>
              <a:solidFill>
                <a:srgbClr val="5B9BD5"/>
              </a:solidFill>
              <a:effectLst>
                <a:outerShdw blurRad="12700" dist="38100" dir="2700000" algn="tl" rotWithShape="0">
                  <a:srgbClr val="5B9BD5">
                    <a:lumMod val="60000"/>
                    <a:lumOff val="40000"/>
                  </a:srgbClr>
                </a:outerShdw>
              </a:effectLst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88172573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ACDE2B-25E5-423D-8CA6-A1BC1ADCDE3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" y="2"/>
            <a:ext cx="9143999" cy="719221"/>
          </a:xfrm>
        </p:spPr>
        <p:txBody>
          <a:bodyPr>
            <a:normAutofit/>
          </a:bodyPr>
          <a:lstStyle/>
          <a:p>
            <a:r>
              <a:rPr lang="en-US" sz="3600" b="1">
                <a:ln w="6600">
                  <a:solidFill>
                    <a:schemeClr val="accent2"/>
                  </a:solidFill>
                  <a:prstDash val="solid"/>
                </a:ln>
                <a:solidFill>
                  <a:srgbClr val="0070C0"/>
                </a:solidFill>
                <a:effectLst>
                  <a:outerShdw dist="38100" dir="2700000" algn="tl" rotWithShape="0">
                    <a:schemeClr val="accent2"/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LỊCH SỬ PHÁT TRIỂN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B8809DC-F3A3-4354-BAEC-C219C472E0B6}"/>
              </a:ext>
            </a:extLst>
          </p:cNvPr>
          <p:cNvSpPr/>
          <p:nvPr/>
        </p:nvSpPr>
        <p:spPr>
          <a:xfrm>
            <a:off x="0" y="6421120"/>
            <a:ext cx="9144000" cy="436880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981D09CA-D5B0-4BD9-B9B7-97B9E8C2FB4C}"/>
              </a:ext>
            </a:extLst>
          </p:cNvPr>
          <p:cNvSpPr/>
          <p:nvPr/>
        </p:nvSpPr>
        <p:spPr>
          <a:xfrm>
            <a:off x="0" y="0"/>
            <a:ext cx="9144000" cy="711200"/>
          </a:xfrm>
          <a:prstGeom prst="roundRect">
            <a:avLst/>
          </a:prstGeom>
          <a:noFill/>
          <a:ln w="28575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3D971DDC-5744-472F-AA7E-91EE0CE05497}"/>
              </a:ext>
            </a:extLst>
          </p:cNvPr>
          <p:cNvSpPr txBox="1">
            <a:spLocks/>
          </p:cNvSpPr>
          <p:nvPr/>
        </p:nvSpPr>
        <p:spPr>
          <a:xfrm>
            <a:off x="-357267" y="1676517"/>
            <a:ext cx="9858535" cy="3504966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5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just" defTabSz="6858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600" b="0" i="0" u="none" strike="noStrike" kern="1200" cap="none" spc="0" normalizeH="0" baseline="0" noProof="0">
              <a:ln w="0"/>
              <a:solidFill>
                <a:prstClr val="black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uLnTx/>
              <a:uFillTx/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2DBFD95-76F5-4EB9-861C-6921F7973D63}"/>
              </a:ext>
            </a:extLst>
          </p:cNvPr>
          <p:cNvSpPr/>
          <p:nvPr/>
        </p:nvSpPr>
        <p:spPr>
          <a:xfrm>
            <a:off x="7930694" y="6411670"/>
            <a:ext cx="1175322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>
                <a:ln w="12700" cmpd="sng">
                  <a:solidFill>
                    <a:srgbClr val="FFC000"/>
                  </a:solidFill>
                  <a:prstDash val="solid"/>
                </a:ln>
                <a:solidFill>
                  <a:srgbClr val="FFFF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Slide 3</a:t>
            </a:r>
          </a:p>
        </p:txBody>
      </p:sp>
      <p:sp>
        <p:nvSpPr>
          <p:cNvPr id="5" name="Arrow: Left 4">
            <a:hlinkClick r:id="rId2" action="ppaction://hlinksldjump"/>
            <a:extLst>
              <a:ext uri="{FF2B5EF4-FFF2-40B4-BE49-F238E27FC236}">
                <a16:creationId xmlns:a16="http://schemas.microsoft.com/office/drawing/2014/main" id="{842092F9-AA1B-460D-83E1-27D29EA7704B}"/>
              </a:ext>
            </a:extLst>
          </p:cNvPr>
          <p:cNvSpPr/>
          <p:nvPr/>
        </p:nvSpPr>
        <p:spPr>
          <a:xfrm>
            <a:off x="4224164" y="6436453"/>
            <a:ext cx="812800" cy="436880"/>
          </a:xfrm>
          <a:prstGeom prst="leftArrow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9AEEE09E-91AD-4283-84A7-E23D9A2CF4D5}"/>
              </a:ext>
            </a:extLst>
          </p:cNvPr>
          <p:cNvSpPr/>
          <p:nvPr/>
        </p:nvSpPr>
        <p:spPr>
          <a:xfrm>
            <a:off x="4986973" y="963241"/>
            <a:ext cx="1621647" cy="1383776"/>
          </a:xfrm>
          <a:custGeom>
            <a:avLst/>
            <a:gdLst>
              <a:gd name="connsiteX0" fmla="*/ 0 w 1383776"/>
              <a:gd name="connsiteY0" fmla="*/ 0 h 1383776"/>
              <a:gd name="connsiteX1" fmla="*/ 1383776 w 1383776"/>
              <a:gd name="connsiteY1" fmla="*/ 0 h 1383776"/>
              <a:gd name="connsiteX2" fmla="*/ 1383776 w 1383776"/>
              <a:gd name="connsiteY2" fmla="*/ 1383776 h 1383776"/>
              <a:gd name="connsiteX3" fmla="*/ 0 w 1383776"/>
              <a:gd name="connsiteY3" fmla="*/ 1383776 h 1383776"/>
              <a:gd name="connsiteX4" fmla="*/ 0 w 1383776"/>
              <a:gd name="connsiteY4" fmla="*/ 0 h 13837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83776" h="1383776">
                <a:moveTo>
                  <a:pt x="0" y="0"/>
                </a:moveTo>
                <a:lnTo>
                  <a:pt x="1383776" y="0"/>
                </a:lnTo>
                <a:lnTo>
                  <a:pt x="1383776" y="1383776"/>
                </a:lnTo>
                <a:lnTo>
                  <a:pt x="0" y="1383776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26670" tIns="26670" rIns="26670" bIns="26670" numCol="1" spcCol="1270" anchor="ctr" anchorCtr="0">
            <a:noAutofit/>
          </a:bodyPr>
          <a:lstStyle/>
          <a:p>
            <a:pPr marL="0" marR="0" lvl="0" indent="0" algn="ctr" defTabSz="93345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1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Thăng</a:t>
            </a: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Long, </a:t>
            </a:r>
            <a:r>
              <a:rPr kumimoji="0" lang="en-US" sz="21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Đông</a:t>
            </a: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21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Đô</a:t>
            </a: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, </a:t>
            </a:r>
            <a:r>
              <a:rPr kumimoji="0" lang="en-US" sz="21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Đông</a:t>
            </a: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21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Quan</a:t>
            </a: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, </a:t>
            </a:r>
            <a:r>
              <a:rPr kumimoji="0" lang="en-US" sz="21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Đông</a:t>
            </a: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21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Kinh</a:t>
            </a:r>
            <a:endParaRPr kumimoji="0" lang="en-US" sz="21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Arrow: Circular 20">
            <a:extLst>
              <a:ext uri="{FF2B5EF4-FFF2-40B4-BE49-F238E27FC236}">
                <a16:creationId xmlns:a16="http://schemas.microsoft.com/office/drawing/2014/main" id="{5059B886-EF43-4672-B0DF-3D4ACE38AD7B}"/>
              </a:ext>
            </a:extLst>
          </p:cNvPr>
          <p:cNvSpPr/>
          <p:nvPr/>
        </p:nvSpPr>
        <p:spPr>
          <a:xfrm>
            <a:off x="1732283" y="923264"/>
            <a:ext cx="5187602" cy="5187602"/>
          </a:xfrm>
          <a:prstGeom prst="circularArrow">
            <a:avLst>
              <a:gd name="adj1" fmla="val 5202"/>
              <a:gd name="adj2" fmla="val 336015"/>
              <a:gd name="adj3" fmla="val 21292825"/>
              <a:gd name="adj4" fmla="val 19766604"/>
              <a:gd name="adj5" fmla="val 6068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4">
              <a:hueOff val="0"/>
              <a:satOff val="0"/>
              <a:lumOff val="0"/>
              <a:alphaOff val="0"/>
            </a:schemeClr>
          </a:fillRef>
          <a:effectRef idx="3">
            <a:schemeClr val="accent4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B8929CA5-8B71-49CD-84F1-96781289FD60}"/>
              </a:ext>
            </a:extLst>
          </p:cNvPr>
          <p:cNvSpPr/>
          <p:nvPr/>
        </p:nvSpPr>
        <p:spPr>
          <a:xfrm>
            <a:off x="5823032" y="3536373"/>
            <a:ext cx="1383776" cy="1383776"/>
          </a:xfrm>
          <a:custGeom>
            <a:avLst/>
            <a:gdLst>
              <a:gd name="connsiteX0" fmla="*/ 0 w 1383776"/>
              <a:gd name="connsiteY0" fmla="*/ 0 h 1383776"/>
              <a:gd name="connsiteX1" fmla="*/ 1383776 w 1383776"/>
              <a:gd name="connsiteY1" fmla="*/ 0 h 1383776"/>
              <a:gd name="connsiteX2" fmla="*/ 1383776 w 1383776"/>
              <a:gd name="connsiteY2" fmla="*/ 1383776 h 1383776"/>
              <a:gd name="connsiteX3" fmla="*/ 0 w 1383776"/>
              <a:gd name="connsiteY3" fmla="*/ 1383776 h 1383776"/>
              <a:gd name="connsiteX4" fmla="*/ 0 w 1383776"/>
              <a:gd name="connsiteY4" fmla="*/ 0 h 13837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83776" h="1383776">
                <a:moveTo>
                  <a:pt x="0" y="0"/>
                </a:moveTo>
                <a:lnTo>
                  <a:pt x="1383776" y="0"/>
                </a:lnTo>
                <a:lnTo>
                  <a:pt x="1383776" y="1383776"/>
                </a:lnTo>
                <a:lnTo>
                  <a:pt x="0" y="1383776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26670" tIns="26670" rIns="26670" bIns="26670" numCol="1" spcCol="1270" anchor="ctr" anchorCtr="0">
            <a:noAutofit/>
          </a:bodyPr>
          <a:lstStyle/>
          <a:p>
            <a:pPr marL="0" marR="0" lvl="0" indent="0" algn="ctr" defTabSz="93345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1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Thời nhà Nguyễn và Pháp thuộc</a:t>
            </a:r>
          </a:p>
        </p:txBody>
      </p:sp>
      <p:sp>
        <p:nvSpPr>
          <p:cNvPr id="23" name="Arrow: Circular 22">
            <a:extLst>
              <a:ext uri="{FF2B5EF4-FFF2-40B4-BE49-F238E27FC236}">
                <a16:creationId xmlns:a16="http://schemas.microsoft.com/office/drawing/2014/main" id="{CA0E3692-18AB-40D4-A274-BB0594334A88}"/>
              </a:ext>
            </a:extLst>
          </p:cNvPr>
          <p:cNvSpPr/>
          <p:nvPr/>
        </p:nvSpPr>
        <p:spPr>
          <a:xfrm>
            <a:off x="1732283" y="923264"/>
            <a:ext cx="5187602" cy="5187602"/>
          </a:xfrm>
          <a:prstGeom prst="circularArrow">
            <a:avLst>
              <a:gd name="adj1" fmla="val 5202"/>
              <a:gd name="adj2" fmla="val 336015"/>
              <a:gd name="adj3" fmla="val 4014266"/>
              <a:gd name="adj4" fmla="val 2253829"/>
              <a:gd name="adj5" fmla="val 6068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4">
              <a:hueOff val="2450223"/>
              <a:satOff val="-10194"/>
              <a:lumOff val="2402"/>
              <a:alphaOff val="0"/>
            </a:schemeClr>
          </a:fillRef>
          <a:effectRef idx="3">
            <a:schemeClr val="accent4">
              <a:hueOff val="2450223"/>
              <a:satOff val="-10194"/>
              <a:lumOff val="2402"/>
              <a:alphaOff val="0"/>
            </a:schemeClr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27DB983D-648D-4FDC-A6B2-A1C890300431}"/>
              </a:ext>
            </a:extLst>
          </p:cNvPr>
          <p:cNvSpPr/>
          <p:nvPr/>
        </p:nvSpPr>
        <p:spPr>
          <a:xfrm>
            <a:off x="3634196" y="5126655"/>
            <a:ext cx="1383776" cy="1383776"/>
          </a:xfrm>
          <a:custGeom>
            <a:avLst/>
            <a:gdLst>
              <a:gd name="connsiteX0" fmla="*/ 0 w 1383776"/>
              <a:gd name="connsiteY0" fmla="*/ 0 h 1383776"/>
              <a:gd name="connsiteX1" fmla="*/ 1383776 w 1383776"/>
              <a:gd name="connsiteY1" fmla="*/ 0 h 1383776"/>
              <a:gd name="connsiteX2" fmla="*/ 1383776 w 1383776"/>
              <a:gd name="connsiteY2" fmla="*/ 1383776 h 1383776"/>
              <a:gd name="connsiteX3" fmla="*/ 0 w 1383776"/>
              <a:gd name="connsiteY3" fmla="*/ 1383776 h 1383776"/>
              <a:gd name="connsiteX4" fmla="*/ 0 w 1383776"/>
              <a:gd name="connsiteY4" fmla="*/ 0 h 13837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83776" h="1383776">
                <a:moveTo>
                  <a:pt x="0" y="0"/>
                </a:moveTo>
                <a:lnTo>
                  <a:pt x="1383776" y="0"/>
                </a:lnTo>
                <a:lnTo>
                  <a:pt x="1383776" y="1383776"/>
                </a:lnTo>
                <a:lnTo>
                  <a:pt x="0" y="1383776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26670" tIns="26670" rIns="26670" bIns="26670" numCol="1" spcCol="1270" anchor="ctr" anchorCtr="0">
            <a:noAutofit/>
          </a:bodyPr>
          <a:lstStyle/>
          <a:p>
            <a:pPr marL="0" marR="0" lvl="0" indent="0" algn="ctr" defTabSz="93345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1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Trong hai cuộc chiến tranh</a:t>
            </a:r>
          </a:p>
        </p:txBody>
      </p:sp>
      <p:sp>
        <p:nvSpPr>
          <p:cNvPr id="25" name="Arrow: Circular 24">
            <a:extLst>
              <a:ext uri="{FF2B5EF4-FFF2-40B4-BE49-F238E27FC236}">
                <a16:creationId xmlns:a16="http://schemas.microsoft.com/office/drawing/2014/main" id="{7D3C2BA5-322E-4119-BDD7-2BE52065B383}"/>
              </a:ext>
            </a:extLst>
          </p:cNvPr>
          <p:cNvSpPr/>
          <p:nvPr/>
        </p:nvSpPr>
        <p:spPr>
          <a:xfrm>
            <a:off x="1732283" y="923264"/>
            <a:ext cx="5187602" cy="5187602"/>
          </a:xfrm>
          <a:prstGeom prst="circularArrow">
            <a:avLst>
              <a:gd name="adj1" fmla="val 5202"/>
              <a:gd name="adj2" fmla="val 336015"/>
              <a:gd name="adj3" fmla="val 8210155"/>
              <a:gd name="adj4" fmla="val 6449719"/>
              <a:gd name="adj5" fmla="val 6068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4">
              <a:hueOff val="4900445"/>
              <a:satOff val="-20388"/>
              <a:lumOff val="4804"/>
              <a:alphaOff val="0"/>
            </a:schemeClr>
          </a:fillRef>
          <a:effectRef idx="3">
            <a:schemeClr val="accent4">
              <a:hueOff val="4900445"/>
              <a:satOff val="-20388"/>
              <a:lumOff val="4804"/>
              <a:alphaOff val="0"/>
            </a:schemeClr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394C18E3-748A-471B-BB42-C7B1D15448A5}"/>
              </a:ext>
            </a:extLst>
          </p:cNvPr>
          <p:cNvSpPr/>
          <p:nvPr/>
        </p:nvSpPr>
        <p:spPr>
          <a:xfrm>
            <a:off x="1445360" y="3536373"/>
            <a:ext cx="1383776" cy="1383776"/>
          </a:xfrm>
          <a:custGeom>
            <a:avLst/>
            <a:gdLst>
              <a:gd name="connsiteX0" fmla="*/ 0 w 1383776"/>
              <a:gd name="connsiteY0" fmla="*/ 0 h 1383776"/>
              <a:gd name="connsiteX1" fmla="*/ 1383776 w 1383776"/>
              <a:gd name="connsiteY1" fmla="*/ 0 h 1383776"/>
              <a:gd name="connsiteX2" fmla="*/ 1383776 w 1383776"/>
              <a:gd name="connsiteY2" fmla="*/ 1383776 h 1383776"/>
              <a:gd name="connsiteX3" fmla="*/ 0 w 1383776"/>
              <a:gd name="connsiteY3" fmla="*/ 1383776 h 1383776"/>
              <a:gd name="connsiteX4" fmla="*/ 0 w 1383776"/>
              <a:gd name="connsiteY4" fmla="*/ 0 h 13837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83776" h="1383776">
                <a:moveTo>
                  <a:pt x="0" y="0"/>
                </a:moveTo>
                <a:lnTo>
                  <a:pt x="1383776" y="0"/>
                </a:lnTo>
                <a:lnTo>
                  <a:pt x="1383776" y="1383776"/>
                </a:lnTo>
                <a:lnTo>
                  <a:pt x="0" y="1383776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26670" tIns="26670" rIns="26670" bIns="26670" numCol="1" spcCol="1270" anchor="ctr" anchorCtr="0">
            <a:noAutofit/>
          </a:bodyPr>
          <a:lstStyle/>
          <a:p>
            <a:pPr marL="0" marR="0" lvl="0" indent="0" algn="ctr" defTabSz="93345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ClrTx/>
              <a:buSzTx/>
              <a:buFontTx/>
              <a:buNone/>
              <a:tabLst/>
              <a:defRPr/>
            </a:pPr>
            <a:endParaRPr kumimoji="0" lang="en-US" sz="2100" b="0" i="0" u="none" strike="noStrike" kern="1200" cap="none" spc="0" normalizeH="0" baseline="0" noProof="0">
              <a:ln>
                <a:noFill/>
              </a:ln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3345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ClrTx/>
              <a:buSzTx/>
              <a:buFontTx/>
              <a:buNone/>
              <a:tabLst/>
              <a:defRPr/>
            </a:pPr>
            <a:r>
              <a:rPr kumimoji="0" lang="vi-VN" sz="21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Hà Nội đương đại</a:t>
            </a:r>
            <a:endParaRPr kumimoji="0" lang="en-US" sz="2100" b="0" i="0" u="none" strike="noStrike" kern="1200" cap="none" spc="0" normalizeH="0" baseline="0" noProof="0">
              <a:ln>
                <a:noFill/>
              </a:ln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Arrow: Circular 26">
            <a:extLst>
              <a:ext uri="{FF2B5EF4-FFF2-40B4-BE49-F238E27FC236}">
                <a16:creationId xmlns:a16="http://schemas.microsoft.com/office/drawing/2014/main" id="{CEC8C6D7-6261-4C99-B362-AC6A5117F5B5}"/>
              </a:ext>
            </a:extLst>
          </p:cNvPr>
          <p:cNvSpPr/>
          <p:nvPr/>
        </p:nvSpPr>
        <p:spPr>
          <a:xfrm>
            <a:off x="1732283" y="923264"/>
            <a:ext cx="5187602" cy="5187602"/>
          </a:xfrm>
          <a:prstGeom prst="circularArrow">
            <a:avLst>
              <a:gd name="adj1" fmla="val 5202"/>
              <a:gd name="adj2" fmla="val 336015"/>
              <a:gd name="adj3" fmla="val 12297380"/>
              <a:gd name="adj4" fmla="val 10771160"/>
              <a:gd name="adj5" fmla="val 6068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4">
              <a:hueOff val="7350668"/>
              <a:satOff val="-30583"/>
              <a:lumOff val="7206"/>
              <a:alphaOff val="0"/>
            </a:schemeClr>
          </a:fillRef>
          <a:effectRef idx="3">
            <a:schemeClr val="accent4">
              <a:hueOff val="7350668"/>
              <a:satOff val="-30583"/>
              <a:lumOff val="7206"/>
              <a:alphaOff val="0"/>
            </a:schemeClr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B9089216-BDEE-4CF7-8514-6C7B4B1F3167}"/>
              </a:ext>
            </a:extLst>
          </p:cNvPr>
          <p:cNvSpPr/>
          <p:nvPr/>
        </p:nvSpPr>
        <p:spPr>
          <a:xfrm>
            <a:off x="2281421" y="963241"/>
            <a:ext cx="1383776" cy="1383776"/>
          </a:xfrm>
          <a:custGeom>
            <a:avLst/>
            <a:gdLst>
              <a:gd name="connsiteX0" fmla="*/ 0 w 1383776"/>
              <a:gd name="connsiteY0" fmla="*/ 0 h 1383776"/>
              <a:gd name="connsiteX1" fmla="*/ 1383776 w 1383776"/>
              <a:gd name="connsiteY1" fmla="*/ 0 h 1383776"/>
              <a:gd name="connsiteX2" fmla="*/ 1383776 w 1383776"/>
              <a:gd name="connsiteY2" fmla="*/ 1383776 h 1383776"/>
              <a:gd name="connsiteX3" fmla="*/ 0 w 1383776"/>
              <a:gd name="connsiteY3" fmla="*/ 1383776 h 1383776"/>
              <a:gd name="connsiteX4" fmla="*/ 0 w 1383776"/>
              <a:gd name="connsiteY4" fmla="*/ 0 h 13837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83776" h="1383776">
                <a:moveTo>
                  <a:pt x="0" y="0"/>
                </a:moveTo>
                <a:lnTo>
                  <a:pt x="1383776" y="0"/>
                </a:lnTo>
                <a:lnTo>
                  <a:pt x="1383776" y="1383776"/>
                </a:lnTo>
                <a:lnTo>
                  <a:pt x="0" y="1383776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26670" tIns="26670" rIns="26670" bIns="26670" numCol="1" spcCol="1270" anchor="ctr" anchorCtr="0">
            <a:noAutofit/>
          </a:bodyPr>
          <a:lstStyle/>
          <a:p>
            <a:pPr marL="0" marR="0" lvl="0" indent="0" algn="ctr" defTabSz="93345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1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Thời kỳ tiền Thăng Long</a:t>
            </a:r>
          </a:p>
        </p:txBody>
      </p:sp>
      <p:sp>
        <p:nvSpPr>
          <p:cNvPr id="29" name="Arrow: Circular 28">
            <a:extLst>
              <a:ext uri="{FF2B5EF4-FFF2-40B4-BE49-F238E27FC236}">
                <a16:creationId xmlns:a16="http://schemas.microsoft.com/office/drawing/2014/main" id="{04F3D768-C4D3-4CE5-BBCD-1FC58139B64C}"/>
              </a:ext>
            </a:extLst>
          </p:cNvPr>
          <p:cNvSpPr/>
          <p:nvPr/>
        </p:nvSpPr>
        <p:spPr>
          <a:xfrm>
            <a:off x="1732283" y="923264"/>
            <a:ext cx="5187602" cy="5187602"/>
          </a:xfrm>
          <a:prstGeom prst="circularArrow">
            <a:avLst>
              <a:gd name="adj1" fmla="val 5202"/>
              <a:gd name="adj2" fmla="val 336015"/>
              <a:gd name="adj3" fmla="val 16865256"/>
              <a:gd name="adj4" fmla="val 15198729"/>
              <a:gd name="adj5" fmla="val 6068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4">
              <a:hueOff val="9800891"/>
              <a:satOff val="-40777"/>
              <a:lumOff val="9608"/>
              <a:alphaOff val="0"/>
            </a:schemeClr>
          </a:fillRef>
          <a:effectRef idx="3">
            <a:schemeClr val="accent4">
              <a:hueOff val="9800891"/>
              <a:satOff val="-40777"/>
              <a:lumOff val="9608"/>
              <a:alphaOff val="0"/>
            </a:schemeClr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988339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/>
      </p:transition>
    </mc:Choice>
    <mc:Fallback xmlns="">
      <p:transition spd="slow">
        <p:checker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  <p:bldP spid="22" grpId="0"/>
      <p:bldP spid="24" grpId="0"/>
      <p:bldP spid="26" grpId="0"/>
      <p:bldP spid="28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ACDE2B-25E5-423D-8CA6-A1BC1ADCDE3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" y="2"/>
            <a:ext cx="9143999" cy="719221"/>
          </a:xfrm>
        </p:spPr>
        <p:txBody>
          <a:bodyPr>
            <a:normAutofit/>
          </a:bodyPr>
          <a:lstStyle/>
          <a:p>
            <a:r>
              <a:rPr lang="en-US" sz="3600" b="1" dirty="0" smtClean="0">
                <a:ln w="6600">
                  <a:solidFill>
                    <a:schemeClr val="accent2"/>
                  </a:solidFill>
                  <a:prstDash val="solid"/>
                </a:ln>
                <a:solidFill>
                  <a:srgbClr val="0070C0"/>
                </a:solidFill>
                <a:effectLst>
                  <a:outerShdw dist="38100" dir="2700000" algn="tl" rotWithShape="0">
                    <a:schemeClr val="accent2"/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KINH </a:t>
            </a:r>
            <a:r>
              <a:rPr lang="en-US" sz="3600" b="1" dirty="0">
                <a:ln w="6600">
                  <a:solidFill>
                    <a:schemeClr val="accent2"/>
                  </a:solidFill>
                  <a:prstDash val="solid"/>
                </a:ln>
                <a:solidFill>
                  <a:srgbClr val="0070C0"/>
                </a:solidFill>
                <a:effectLst>
                  <a:outerShdw dist="38100" dir="2700000" algn="tl" rotWithShape="0">
                    <a:schemeClr val="accent2"/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TẾ </a:t>
            </a:r>
            <a:r>
              <a:rPr lang="en-US" sz="3600" b="1" dirty="0" smtClean="0">
                <a:ln w="6600">
                  <a:solidFill>
                    <a:schemeClr val="accent2"/>
                  </a:solidFill>
                  <a:prstDash val="solid"/>
                </a:ln>
                <a:solidFill>
                  <a:srgbClr val="0070C0"/>
                </a:solidFill>
                <a:effectLst>
                  <a:outerShdw dist="38100" dir="2700000" algn="tl" rotWithShape="0">
                    <a:schemeClr val="accent2"/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CÁC NĂM GẦN ĐÂY</a:t>
            </a:r>
            <a:endParaRPr lang="en-US" sz="3600" b="1" dirty="0">
              <a:ln w="6600">
                <a:solidFill>
                  <a:schemeClr val="accent2"/>
                </a:solidFill>
                <a:prstDash val="solid"/>
              </a:ln>
              <a:solidFill>
                <a:srgbClr val="0070C0"/>
              </a:solidFill>
              <a:effectLst>
                <a:outerShdw dist="38100" dir="2700000" algn="tl" rotWithShape="0">
                  <a:schemeClr val="accent2"/>
                </a:outerShdw>
              </a:effectLs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B8809DC-F3A3-4354-BAEC-C219C472E0B6}"/>
              </a:ext>
            </a:extLst>
          </p:cNvPr>
          <p:cNvSpPr/>
          <p:nvPr/>
        </p:nvSpPr>
        <p:spPr>
          <a:xfrm>
            <a:off x="0" y="6421120"/>
            <a:ext cx="9144000" cy="436880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981D09CA-D5B0-4BD9-B9B7-97B9E8C2FB4C}"/>
              </a:ext>
            </a:extLst>
          </p:cNvPr>
          <p:cNvSpPr/>
          <p:nvPr/>
        </p:nvSpPr>
        <p:spPr>
          <a:xfrm>
            <a:off x="0" y="0"/>
            <a:ext cx="9144000" cy="711200"/>
          </a:xfrm>
          <a:prstGeom prst="roundRect">
            <a:avLst/>
          </a:prstGeom>
          <a:noFill/>
          <a:ln w="28575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2DBFD95-76F5-4EB9-861C-6921F7973D63}"/>
              </a:ext>
            </a:extLst>
          </p:cNvPr>
          <p:cNvSpPr/>
          <p:nvPr/>
        </p:nvSpPr>
        <p:spPr>
          <a:xfrm>
            <a:off x="7930694" y="6411670"/>
            <a:ext cx="1175322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>
                <a:ln w="12700" cmpd="sng">
                  <a:solidFill>
                    <a:srgbClr val="FFC000"/>
                  </a:solidFill>
                  <a:prstDash val="solid"/>
                </a:ln>
                <a:solidFill>
                  <a:srgbClr val="FFFF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Slide 4</a:t>
            </a:r>
          </a:p>
        </p:txBody>
      </p:sp>
      <p:graphicFrame>
        <p:nvGraphicFramePr>
          <p:cNvPr id="13" name="Chart 12">
            <a:extLst>
              <a:ext uri="{FF2B5EF4-FFF2-40B4-BE49-F238E27FC236}">
                <a16:creationId xmlns:a16="http://schemas.microsoft.com/office/drawing/2014/main" id="{A07F68D4-8D62-4685-AEA1-F5AFB79DEC87}"/>
              </a:ext>
            </a:extLst>
          </p:cNvPr>
          <p:cNvGraphicFramePr/>
          <p:nvPr>
            <p:extLst/>
          </p:nvPr>
        </p:nvGraphicFramePr>
        <p:xfrm>
          <a:off x="1383038" y="822961"/>
          <a:ext cx="6713913" cy="443853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25589922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/>
      </p:transition>
    </mc:Choice>
    <mc:Fallback xmlns="">
      <p:transition spd="slow">
        <p:checker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13" grpId="0">
        <p:bldAsOne/>
      </p:bldGraphic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2B8809DC-F3A3-4354-BAEC-C219C472E0B6}"/>
              </a:ext>
            </a:extLst>
          </p:cNvPr>
          <p:cNvSpPr/>
          <p:nvPr/>
        </p:nvSpPr>
        <p:spPr>
          <a:xfrm>
            <a:off x="0" y="6421120"/>
            <a:ext cx="9144000" cy="436880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3D971DDC-5744-472F-AA7E-91EE0CE05497}"/>
              </a:ext>
            </a:extLst>
          </p:cNvPr>
          <p:cNvSpPr txBox="1">
            <a:spLocks/>
          </p:cNvSpPr>
          <p:nvPr/>
        </p:nvSpPr>
        <p:spPr>
          <a:xfrm>
            <a:off x="-357267" y="1676517"/>
            <a:ext cx="9858535" cy="3504966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5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just" defTabSz="6858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600" b="0" i="0" u="none" strike="noStrike" kern="1200" cap="none" spc="0" normalizeH="0" baseline="0" noProof="0">
              <a:ln w="0"/>
              <a:solidFill>
                <a:prstClr val="black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uLnTx/>
              <a:uFillTx/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2892A6D-5ABF-45F8-998E-20980AEEF96F}"/>
              </a:ext>
            </a:extLst>
          </p:cNvPr>
          <p:cNvSpPr/>
          <p:nvPr/>
        </p:nvSpPr>
        <p:spPr>
          <a:xfrm>
            <a:off x="294107" y="1341540"/>
            <a:ext cx="8643485" cy="4215865"/>
          </a:xfrm>
          <a:prstGeom prst="rect">
            <a:avLst/>
          </a:prstGeom>
          <a:noFill/>
        </p:spPr>
        <p:txBody>
          <a:bodyPr wrap="none" lIns="91440" tIns="45720" rIns="91440" bIns="45720" numCol="1">
            <a:prstTxWarp prst="textWave2">
              <a:avLst/>
            </a:prstTxWarp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>
                <a:ln w="9525">
                  <a:solidFill>
                    <a:prstClr val="white"/>
                  </a:solidFill>
                  <a:prstDash val="solid"/>
                </a:ln>
                <a:solidFill>
                  <a:srgbClr val="5B9BD5"/>
                </a:solidFill>
                <a:effectLst>
                  <a:outerShdw blurRad="12700" dist="38100" dir="2700000" algn="tl" rotWithShape="0">
                    <a:srgbClr val="5B9BD5">
                      <a:lumMod val="60000"/>
                      <a:lumOff val="40000"/>
                    </a:srgbClr>
                  </a:outerShdw>
                </a:effectLst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Thank you!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0B32B1E-7615-40DB-9A6E-FA65E7BDCF65}"/>
              </a:ext>
            </a:extLst>
          </p:cNvPr>
          <p:cNvSpPr/>
          <p:nvPr/>
        </p:nvSpPr>
        <p:spPr>
          <a:xfrm>
            <a:off x="7930694" y="6411670"/>
            <a:ext cx="1175322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>
                <a:ln w="12700" cmpd="sng">
                  <a:solidFill>
                    <a:srgbClr val="FFC000"/>
                  </a:solidFill>
                  <a:prstDash val="solid"/>
                </a:ln>
                <a:solidFill>
                  <a:srgbClr val="FFFF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Slide 5</a:t>
            </a:r>
          </a:p>
        </p:txBody>
      </p:sp>
    </p:spTree>
    <p:extLst>
      <p:ext uri="{BB962C8B-B14F-4D97-AF65-F5344CB8AC3E}">
        <p14:creationId xmlns:p14="http://schemas.microsoft.com/office/powerpoint/2010/main" val="31099328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theme/theme1.xml><?xml version="1.0" encoding="utf-8"?>
<a:theme xmlns:a="http://schemas.openxmlformats.org/drawingml/2006/main" name="3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24</TotalTime>
  <Words>135</Words>
  <Application>Microsoft Office PowerPoint</Application>
  <PresentationFormat>On-screen Show (4:3)</PresentationFormat>
  <Paragraphs>20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0" baseType="lpstr">
      <vt:lpstr>Arial</vt:lpstr>
      <vt:lpstr>Calibri</vt:lpstr>
      <vt:lpstr>Calibri Light</vt:lpstr>
      <vt:lpstr>Wingdings</vt:lpstr>
      <vt:lpstr>3_Office Theme</vt:lpstr>
      <vt:lpstr>PowerPoint Presentation</vt:lpstr>
      <vt:lpstr>GIỚI THIỆU VỀ HÀ NỘI</vt:lpstr>
      <vt:lpstr>LỊCH SỬ PHÁT TRIỂN</vt:lpstr>
      <vt:lpstr>KINH TẾ CÁC NĂM GẦN ĐÂY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User</dc:creator>
  <cp:lastModifiedBy>PC</cp:lastModifiedBy>
  <cp:revision>6</cp:revision>
  <dcterms:created xsi:type="dcterms:W3CDTF">2024-12-01T00:43:53Z</dcterms:created>
  <dcterms:modified xsi:type="dcterms:W3CDTF">2025-09-13T14:27:59Z</dcterms:modified>
</cp:coreProperties>
</file>