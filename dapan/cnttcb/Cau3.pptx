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732" r:id="rId2"/>
  </p:sldMasterIdLst>
  <p:sldIdLst>
    <p:sldId id="261" r:id="rId3"/>
    <p:sldId id="262" r:id="rId4"/>
    <p:sldId id="263" r:id="rId5"/>
    <p:sldId id="264" r:id="rId6"/>
    <p:sldId id="265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11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ĐVT:</a:t>
            </a:r>
            <a:r>
              <a:rPr lang="en-US" baseline="0" dirty="0"/>
              <a:t> USD</a:t>
            </a:r>
            <a:endParaRPr lang="en-US" dirty="0"/>
          </a:p>
        </c:rich>
      </c:tx>
      <c:layout>
        <c:manualLayout>
          <c:xMode val="edge"/>
          <c:yMode val="edge"/>
          <c:x val="0.4064019000544094"/>
          <c:y val="1.2500070406113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8523786352310493E-2"/>
          <c:y val="0.12956009133644322"/>
          <c:w val="0.91147621364768949"/>
          <c:h val="0.706857104878073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TIỀN NỘP NGAN SÁCH CÁC NĂM (TỶ VNĐ)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288E-4711-B302-F64D3F35447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88E-4711-B302-F64D3F354474}"/>
              </c:ext>
            </c:extLst>
          </c:dPt>
          <c:dPt>
            <c:idx val="2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288E-4711-B302-F64D3F354474}"/>
              </c:ext>
            </c:extLst>
          </c:dPt>
          <c:dPt>
            <c:idx val="3"/>
            <c:invertIfNegative val="0"/>
            <c:bubble3D val="0"/>
            <c:explosion val="7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88E-4711-B302-F64D3F35447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Quý 1</c:v>
                </c:pt>
                <c:pt idx="1">
                  <c:v>Quý 2</c:v>
                </c:pt>
                <c:pt idx="2">
                  <c:v>Quý 3</c:v>
                </c:pt>
                <c:pt idx="3">
                  <c:v>Quý 4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315</c:v>
                </c:pt>
                <c:pt idx="1">
                  <c:v>464</c:v>
                </c:pt>
                <c:pt idx="2">
                  <c:v>571</c:v>
                </c:pt>
                <c:pt idx="3">
                  <c:v>867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8E-4711-B302-F64D3F3544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63370095"/>
        <c:axId val="163364271"/>
      </c:barChart>
      <c:catAx>
        <c:axId val="1633700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364271"/>
        <c:crosses val="autoZero"/>
        <c:auto val="1"/>
        <c:lblAlgn val="ctr"/>
        <c:lblOffset val="100"/>
        <c:noMultiLvlLbl val="0"/>
      </c:catAx>
      <c:valAx>
        <c:axId val="1633642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3700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4"/>
            <a:ext cx="7772400" cy="23876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85AD09-59D5-478E-BFB4-5748C04604E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669F0D-795E-449C-AD68-9797EE4A94E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783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85AD09-59D5-478E-BFB4-5748C04604E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669F0D-795E-449C-AD68-9797EE4A94E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4872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2"/>
            <a:ext cx="7886700" cy="2852737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7"/>
            <a:ext cx="7886700" cy="150018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85AD09-59D5-478E-BFB4-5748C04604E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669F0D-795E-449C-AD68-9797EE4A94E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026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85AD09-59D5-478E-BFB4-5748C04604E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669F0D-795E-449C-AD68-9797EE4A94E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19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4"/>
            <a:ext cx="3887391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85AD09-59D5-478E-BFB4-5748C04604E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669F0D-795E-449C-AD68-9797EE4A94E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483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85AD09-59D5-478E-BFB4-5748C04604E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669F0D-795E-449C-AD68-9797EE4A94E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869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85AD09-59D5-478E-BFB4-5748C04604E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669F0D-795E-449C-AD68-9797EE4A94E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438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9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2" y="987429"/>
            <a:ext cx="4629151" cy="487362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9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85AD09-59D5-478E-BFB4-5748C04604E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669F0D-795E-449C-AD68-9797EE4A94E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829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9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2" y="987429"/>
            <a:ext cx="4629151" cy="4873625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9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85AD09-59D5-478E-BFB4-5748C04604E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669F0D-795E-449C-AD68-9797EE4A94E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164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85AD09-59D5-478E-BFB4-5748C04604E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669F0D-795E-449C-AD68-9797EE4A94E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590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6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6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85AD09-59D5-478E-BFB4-5748C04604E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669F0D-795E-449C-AD68-9797EE4A94E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801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C31F7-F938-4E9C-A096-F4279C482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8100E-4847-4E14-AD63-8FC7DBAA5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ABF85-FD9C-4996-AF82-7BC0438CA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5AD09-59D5-478E-BFB4-5748C04604E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4/18/2026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29C89-07F4-4094-8039-68D138BA2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002B5-FED8-447B-9A71-795416630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669F0D-795E-449C-AD68-9797EE4A94E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11267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A3B59-9016-45B4-BF64-B0006F900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13D98-0750-4473-ABAD-664F308C0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F0891-1140-40DB-9CFA-AE09CFCFF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5AD09-59D5-478E-BFB4-5748C04604E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4/18/2026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1C5D4-5C2B-4F3D-B9A1-31DF052AB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23AB6-A3F6-423B-A37C-B63DC6906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669F0D-795E-449C-AD68-9797EE4A94E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6854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113AE-390C-445C-8146-8F6CA90BE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99AFE-0796-402E-A591-A7D20DF0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03351-1C4B-4991-81A4-796FF261C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5AD09-59D5-478E-BFB4-5748C04604E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4/18/2026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528DC-B89E-4AF5-99A4-0743AB600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3EE04-4912-45FE-9736-A2C1A17E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669F0D-795E-449C-AD68-9797EE4A94E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6432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3DE14-A9D3-4A07-B6BF-8D871CCBF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FE283-B435-4437-B589-7A289C2943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40541-AF10-493B-8EDB-DF9049450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64021-BC6B-4FCA-A3C1-07A699E4A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5AD09-59D5-478E-BFB4-5748C04604E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4/18/2026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C5585-D4C2-4E05-B671-D742C071D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F8AC7-018D-4163-A187-DD510BD25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669F0D-795E-449C-AD68-9797EE4A94E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9103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83A34-197A-4F88-B345-0CFB5B3EA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D580F-0FFE-47B6-B3C9-9435B58C1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8C34F0-332A-4FFD-AFBC-B465C6AFD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6C39FA-250B-4EAE-BD66-3CE75C4233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6CE337-3D65-4375-92F1-B62E999165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ADD2E6-9C37-4101-A282-DE7968DA5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5AD09-59D5-478E-BFB4-5748C04604E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4/18/2026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988E89-5168-4FAA-B8CD-3ECDCE718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516471-7F13-4934-8C76-324CB1E28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669F0D-795E-449C-AD68-9797EE4A94E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46419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89B59-F334-4B19-940C-AB0E91300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301E25-2D44-47C2-8D93-EE3E9EE86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5AD09-59D5-478E-BFB4-5748C04604E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4/18/2026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FDDDD1-B568-497F-97C1-7DFD4BACD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2549EB-CB2D-41CC-8741-AFBC0768A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669F0D-795E-449C-AD68-9797EE4A94E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57550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1F9D5B-8D36-4D72-9E68-7C9BAAD29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5AD09-59D5-478E-BFB4-5748C04604E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4/18/2026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A8192E-AEBF-41EE-90EA-1F450A6ED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883C4-2687-4AF7-B966-E8EE7A582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669F0D-795E-449C-AD68-9797EE4A94E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06719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BBEC5-009F-4C7F-B34B-FC3BE6F3A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8BBE9-1CEA-4426-87F9-07E33A203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FC6D7C-7EB6-4E95-9E97-BB40ECB98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D0B75-8CB4-4B07-9BD7-46C909895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5AD09-59D5-478E-BFB4-5748C04604E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4/18/2026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55AF8-A94C-4710-AE99-170E725F4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9111C7-E815-4E96-B9DB-08242997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669F0D-795E-449C-AD68-9797EE4A94E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4777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3B8BD-CB71-4064-8317-18A738485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939EA6-C663-4398-BA37-245E170ABA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73E8CA-4CEF-444A-88A4-6CB73729D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389F6-D8A5-4F55-B4FA-15D60C2C6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5AD09-59D5-478E-BFB4-5748C04604E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4/18/2026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32A61A-F5EF-46A2-9BE4-934C5BF03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13FF44-C988-4C13-BCCB-C8B090905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669F0D-795E-449C-AD68-9797EE4A94E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69457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4CBD1-317B-4184-8540-DC2AF8E42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6263B-425C-4936-BC3E-83D2D3A862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A9AAF-8452-4300-9ED2-F2D7B2FFD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5AD09-59D5-478E-BFB4-5748C04604E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4/18/2026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41FC1-FF81-419C-8CF3-A3F0967ED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0F23B-0785-461F-9E9E-78F8ED3E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669F0D-795E-449C-AD68-9797EE4A94E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80338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56845E-8B49-4EB5-8EE2-8F055F654A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5B40B-11E0-4C32-8229-2B72E009C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84D00-C866-4EDC-B7BE-5643529C4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5AD09-59D5-478E-BFB4-5748C04604E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4/18/2026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4941C-FAF5-461D-B473-4CCC57830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8363D-8592-44AE-9FF3-DBB24DF86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669F0D-795E-449C-AD68-9797EE4A94E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6900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DED5C-A84D-480A-A1E4-45CC1BC2F9C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4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5635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BA146-09C3-4A90-B3C0-05910C12E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805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BA39C7-D15E-4286-940F-DD022BCDA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32DA6-5EDB-4ED4-8D79-1635357A5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5D1D2-8A97-45E4-9A36-250A2FF859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5AD09-59D5-478E-BFB4-5748C04604E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4/18/2026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636F2-B67C-48A1-8AAB-578A3FC0DE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DA827-DA85-4A99-A22C-5814CBB095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669F0D-795E-449C-AD68-9797EE4A94E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2605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3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B8809DC-F3A3-4354-BAEC-C219C472E0B6}"/>
              </a:ext>
            </a:extLst>
          </p:cNvPr>
          <p:cNvSpPr/>
          <p:nvPr/>
        </p:nvSpPr>
        <p:spPr>
          <a:xfrm>
            <a:off x="0" y="6421120"/>
            <a:ext cx="9144000" cy="43688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53636" y="598208"/>
            <a:ext cx="6476706" cy="889770"/>
          </a:xfrm>
          <a:prstGeom prst="rect">
            <a:avLst/>
          </a:prstGeom>
          <a:noFill/>
        </p:spPr>
        <p:txBody>
          <a:bodyPr wrap="none" lIns="91440" tIns="45720" rIns="91440" bIns="45720" numCol="1">
            <a:prstTxWarp prst="textInflateBottom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5B9BD5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THỦ ĐÔ HÀ NỘI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64C02D-6610-4BAC-8C05-4B691B58E4D1}"/>
              </a:ext>
            </a:extLst>
          </p:cNvPr>
          <p:cNvSpPr/>
          <p:nvPr/>
        </p:nvSpPr>
        <p:spPr>
          <a:xfrm>
            <a:off x="7930694" y="6411670"/>
            <a:ext cx="117532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 w="12700" cmpd="sng">
                  <a:solidFill>
                    <a:srgbClr val="FFC000"/>
                  </a:solidFill>
                  <a:prstDash val="solid"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1</a:t>
            </a:r>
          </a:p>
        </p:txBody>
      </p:sp>
      <p:pic>
        <p:nvPicPr>
          <p:cNvPr id="6" name="Picture 5" descr="A building next to a body of water&#10;&#10;Description automatically generated">
            <a:hlinkClick r:id="rId2" action="ppaction://hlinksldjump"/>
            <a:extLst>
              <a:ext uri="{FF2B5EF4-FFF2-40B4-BE49-F238E27FC236}">
                <a16:creationId xmlns:a16="http://schemas.microsoft.com/office/drawing/2014/main" id="{10728288-F6B5-C54D-1B72-C838839C1B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253" y="1630432"/>
            <a:ext cx="5999663" cy="380978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51471116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CDE2B-25E5-423D-8CA6-A1BC1ADCD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" y="2"/>
            <a:ext cx="9143999" cy="719221"/>
          </a:xfrm>
        </p:spPr>
        <p:txBody>
          <a:bodyPr>
            <a:normAutofit/>
          </a:bodyPr>
          <a:lstStyle/>
          <a:p>
            <a:r>
              <a:rPr lang="en-US" sz="36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0070C0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GIỚI THIỆU VỀ HÀ NỘI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8809DC-F3A3-4354-BAEC-C219C472E0B6}"/>
              </a:ext>
            </a:extLst>
          </p:cNvPr>
          <p:cNvSpPr/>
          <p:nvPr/>
        </p:nvSpPr>
        <p:spPr>
          <a:xfrm>
            <a:off x="0" y="6421120"/>
            <a:ext cx="9144000" cy="43688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81D09CA-D5B0-4BD9-B9B7-97B9E8C2FB4C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ound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D971DDC-5744-472F-AA7E-91EE0CE05497}"/>
              </a:ext>
            </a:extLst>
          </p:cNvPr>
          <p:cNvSpPr txBox="1">
            <a:spLocks/>
          </p:cNvSpPr>
          <p:nvPr/>
        </p:nvSpPr>
        <p:spPr>
          <a:xfrm>
            <a:off x="336430" y="1492350"/>
            <a:ext cx="8505646" cy="24226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marR="0" lvl="0" indent="-457200" algn="just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vi-VN" sz="2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Hà Nội là thủ đô của nước Cộng hòa xã hội chủ nghĩa Việt Nam và cũng là kinh đô của hầu hết các vương triều phong kiến Việt trước đây. </a:t>
            </a:r>
            <a:endParaRPr kumimoji="0" lang="en-US" sz="2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marL="457200" marR="0" lvl="0" indent="-457200" algn="just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vi-VN" sz="2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 đó, lịch sử Hà Nội gắn liền với sự thăng trầm của lịch sử Việt Nam qua các thời kỳ.</a:t>
            </a:r>
            <a:r>
              <a:rPr kumimoji="0" lang="en-US" sz="2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..</a:t>
            </a:r>
          </a:p>
          <a:p>
            <a:pPr marL="457200" marR="0" lvl="0" indent="-457200" algn="just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2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64C02D-6610-4BAC-8C05-4B691B58E4D1}"/>
              </a:ext>
            </a:extLst>
          </p:cNvPr>
          <p:cNvSpPr/>
          <p:nvPr/>
        </p:nvSpPr>
        <p:spPr>
          <a:xfrm>
            <a:off x="7930694" y="6411670"/>
            <a:ext cx="117532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 w="12700" cmpd="sng">
                  <a:solidFill>
                    <a:srgbClr val="FFC000"/>
                  </a:solidFill>
                  <a:prstDash val="solid"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2</a:t>
            </a:r>
          </a:p>
        </p:txBody>
      </p:sp>
    </p:spTree>
    <p:extLst>
      <p:ext uri="{BB962C8B-B14F-4D97-AF65-F5344CB8AC3E}">
        <p14:creationId xmlns:p14="http://schemas.microsoft.com/office/powerpoint/2010/main" val="40617547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CDE2B-25E5-423D-8CA6-A1BC1ADCD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" y="2"/>
            <a:ext cx="9143999" cy="719221"/>
          </a:xfrm>
        </p:spPr>
        <p:txBody>
          <a:bodyPr>
            <a:normAutofit/>
          </a:bodyPr>
          <a:lstStyle/>
          <a:p>
            <a:r>
              <a:rPr lang="en-US" sz="36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0070C0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LỊCH SỬ PHÁT TRIỂN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8809DC-F3A3-4354-BAEC-C219C472E0B6}"/>
              </a:ext>
            </a:extLst>
          </p:cNvPr>
          <p:cNvSpPr/>
          <p:nvPr/>
        </p:nvSpPr>
        <p:spPr>
          <a:xfrm>
            <a:off x="0" y="6421120"/>
            <a:ext cx="9144000" cy="43688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81D09CA-D5B0-4BD9-B9B7-97B9E8C2FB4C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ound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D971DDC-5744-472F-AA7E-91EE0CE05497}"/>
              </a:ext>
            </a:extLst>
          </p:cNvPr>
          <p:cNvSpPr txBox="1">
            <a:spLocks/>
          </p:cNvSpPr>
          <p:nvPr/>
        </p:nvSpPr>
        <p:spPr>
          <a:xfrm>
            <a:off x="-357267" y="1676517"/>
            <a:ext cx="9858535" cy="35049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DBFD95-76F5-4EB9-861C-6921F7973D63}"/>
              </a:ext>
            </a:extLst>
          </p:cNvPr>
          <p:cNvSpPr/>
          <p:nvPr/>
        </p:nvSpPr>
        <p:spPr>
          <a:xfrm>
            <a:off x="7930694" y="6411670"/>
            <a:ext cx="117532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 w="12700" cmpd="sng">
                  <a:solidFill>
                    <a:srgbClr val="FFC000"/>
                  </a:solidFill>
                  <a:prstDash val="solid"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3</a:t>
            </a:r>
          </a:p>
        </p:txBody>
      </p:sp>
      <p:sp>
        <p:nvSpPr>
          <p:cNvPr id="5" name="Arrow: Left 4">
            <a:hlinkClick r:id="rId2" action="ppaction://hlinksldjump"/>
            <a:extLst>
              <a:ext uri="{FF2B5EF4-FFF2-40B4-BE49-F238E27FC236}">
                <a16:creationId xmlns:a16="http://schemas.microsoft.com/office/drawing/2014/main" id="{842092F9-AA1B-460D-83E1-27D29EA7704B}"/>
              </a:ext>
            </a:extLst>
          </p:cNvPr>
          <p:cNvSpPr/>
          <p:nvPr/>
        </p:nvSpPr>
        <p:spPr>
          <a:xfrm>
            <a:off x="4224164" y="6436453"/>
            <a:ext cx="812800" cy="436880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EEE09E-91AD-4283-84A7-E23D9A2CF4D5}"/>
              </a:ext>
            </a:extLst>
          </p:cNvPr>
          <p:cNvSpPr/>
          <p:nvPr/>
        </p:nvSpPr>
        <p:spPr>
          <a:xfrm>
            <a:off x="4986973" y="963241"/>
            <a:ext cx="1621647" cy="1383776"/>
          </a:xfrm>
          <a:custGeom>
            <a:avLst/>
            <a:gdLst>
              <a:gd name="connsiteX0" fmla="*/ 0 w 1383776"/>
              <a:gd name="connsiteY0" fmla="*/ 0 h 1383776"/>
              <a:gd name="connsiteX1" fmla="*/ 1383776 w 1383776"/>
              <a:gd name="connsiteY1" fmla="*/ 0 h 1383776"/>
              <a:gd name="connsiteX2" fmla="*/ 1383776 w 1383776"/>
              <a:gd name="connsiteY2" fmla="*/ 1383776 h 1383776"/>
              <a:gd name="connsiteX3" fmla="*/ 0 w 1383776"/>
              <a:gd name="connsiteY3" fmla="*/ 1383776 h 1383776"/>
              <a:gd name="connsiteX4" fmla="*/ 0 w 1383776"/>
              <a:gd name="connsiteY4" fmla="*/ 0 h 138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3776" h="1383776">
                <a:moveTo>
                  <a:pt x="0" y="0"/>
                </a:moveTo>
                <a:lnTo>
                  <a:pt x="1383776" y="0"/>
                </a:lnTo>
                <a:lnTo>
                  <a:pt x="1383776" y="1383776"/>
                </a:lnTo>
                <a:lnTo>
                  <a:pt x="0" y="138377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Thăng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Long,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Đông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Đô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Đông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Quan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Đông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Kinh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5059B886-EF43-4672-B0DF-3D4ACE38AD7B}"/>
              </a:ext>
            </a:extLst>
          </p:cNvPr>
          <p:cNvSpPr/>
          <p:nvPr/>
        </p:nvSpPr>
        <p:spPr>
          <a:xfrm>
            <a:off x="1732283" y="923264"/>
            <a:ext cx="5187602" cy="5187602"/>
          </a:xfrm>
          <a:prstGeom prst="circularArrow">
            <a:avLst>
              <a:gd name="adj1" fmla="val 5202"/>
              <a:gd name="adj2" fmla="val 336015"/>
              <a:gd name="adj3" fmla="val 21292825"/>
              <a:gd name="adj4" fmla="val 19766604"/>
              <a:gd name="adj5" fmla="val 6068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0"/>
              <a:satOff val="0"/>
              <a:lumOff val="0"/>
              <a:alphaOff val="0"/>
            </a:schemeClr>
          </a:fillRef>
          <a:effectRef idx="3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8929CA5-8B71-49CD-84F1-96781289FD60}"/>
              </a:ext>
            </a:extLst>
          </p:cNvPr>
          <p:cNvSpPr/>
          <p:nvPr/>
        </p:nvSpPr>
        <p:spPr>
          <a:xfrm>
            <a:off x="5823032" y="3536373"/>
            <a:ext cx="1449036" cy="1383776"/>
          </a:xfrm>
          <a:custGeom>
            <a:avLst/>
            <a:gdLst>
              <a:gd name="connsiteX0" fmla="*/ 0 w 1383776"/>
              <a:gd name="connsiteY0" fmla="*/ 0 h 1383776"/>
              <a:gd name="connsiteX1" fmla="*/ 1383776 w 1383776"/>
              <a:gd name="connsiteY1" fmla="*/ 0 h 1383776"/>
              <a:gd name="connsiteX2" fmla="*/ 1383776 w 1383776"/>
              <a:gd name="connsiteY2" fmla="*/ 1383776 h 1383776"/>
              <a:gd name="connsiteX3" fmla="*/ 0 w 1383776"/>
              <a:gd name="connsiteY3" fmla="*/ 1383776 h 1383776"/>
              <a:gd name="connsiteX4" fmla="*/ 0 w 1383776"/>
              <a:gd name="connsiteY4" fmla="*/ 0 h 138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3776" h="1383776">
                <a:moveTo>
                  <a:pt x="0" y="0"/>
                </a:moveTo>
                <a:lnTo>
                  <a:pt x="1383776" y="0"/>
                </a:lnTo>
                <a:lnTo>
                  <a:pt x="1383776" y="1383776"/>
                </a:lnTo>
                <a:lnTo>
                  <a:pt x="0" y="138377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Thời nhà Nguyễn và Pháp thuộc</a:t>
            </a:r>
          </a:p>
        </p:txBody>
      </p:sp>
      <p:sp>
        <p:nvSpPr>
          <p:cNvPr id="23" name="Arrow: Circular 22">
            <a:extLst>
              <a:ext uri="{FF2B5EF4-FFF2-40B4-BE49-F238E27FC236}">
                <a16:creationId xmlns:a16="http://schemas.microsoft.com/office/drawing/2014/main" id="{CA0E3692-18AB-40D4-A274-BB0594334A88}"/>
              </a:ext>
            </a:extLst>
          </p:cNvPr>
          <p:cNvSpPr/>
          <p:nvPr/>
        </p:nvSpPr>
        <p:spPr>
          <a:xfrm>
            <a:off x="1732283" y="923264"/>
            <a:ext cx="5187602" cy="5187602"/>
          </a:xfrm>
          <a:prstGeom prst="circularArrow">
            <a:avLst>
              <a:gd name="adj1" fmla="val 5202"/>
              <a:gd name="adj2" fmla="val 336015"/>
              <a:gd name="adj3" fmla="val 4014266"/>
              <a:gd name="adj4" fmla="val 2253829"/>
              <a:gd name="adj5" fmla="val 6068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2450223"/>
              <a:satOff val="-10194"/>
              <a:lumOff val="2402"/>
              <a:alphaOff val="0"/>
            </a:schemeClr>
          </a:fillRef>
          <a:effectRef idx="3">
            <a:schemeClr val="accent4">
              <a:hueOff val="2450223"/>
              <a:satOff val="-10194"/>
              <a:lumOff val="2402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7DB983D-648D-4FDC-A6B2-A1C890300431}"/>
              </a:ext>
            </a:extLst>
          </p:cNvPr>
          <p:cNvSpPr/>
          <p:nvPr/>
        </p:nvSpPr>
        <p:spPr>
          <a:xfrm>
            <a:off x="3634196" y="5126655"/>
            <a:ext cx="1383776" cy="1383776"/>
          </a:xfrm>
          <a:custGeom>
            <a:avLst/>
            <a:gdLst>
              <a:gd name="connsiteX0" fmla="*/ 0 w 1383776"/>
              <a:gd name="connsiteY0" fmla="*/ 0 h 1383776"/>
              <a:gd name="connsiteX1" fmla="*/ 1383776 w 1383776"/>
              <a:gd name="connsiteY1" fmla="*/ 0 h 1383776"/>
              <a:gd name="connsiteX2" fmla="*/ 1383776 w 1383776"/>
              <a:gd name="connsiteY2" fmla="*/ 1383776 h 1383776"/>
              <a:gd name="connsiteX3" fmla="*/ 0 w 1383776"/>
              <a:gd name="connsiteY3" fmla="*/ 1383776 h 1383776"/>
              <a:gd name="connsiteX4" fmla="*/ 0 w 1383776"/>
              <a:gd name="connsiteY4" fmla="*/ 0 h 138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3776" h="1383776">
                <a:moveTo>
                  <a:pt x="0" y="0"/>
                </a:moveTo>
                <a:lnTo>
                  <a:pt x="1383776" y="0"/>
                </a:lnTo>
                <a:lnTo>
                  <a:pt x="1383776" y="1383776"/>
                </a:lnTo>
                <a:lnTo>
                  <a:pt x="0" y="138377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Trong hai cuộc chiến tranh</a:t>
            </a:r>
          </a:p>
        </p:txBody>
      </p:sp>
      <p:sp>
        <p:nvSpPr>
          <p:cNvPr id="25" name="Arrow: Circular 24">
            <a:extLst>
              <a:ext uri="{FF2B5EF4-FFF2-40B4-BE49-F238E27FC236}">
                <a16:creationId xmlns:a16="http://schemas.microsoft.com/office/drawing/2014/main" id="{7D3C2BA5-322E-4119-BDD7-2BE52065B383}"/>
              </a:ext>
            </a:extLst>
          </p:cNvPr>
          <p:cNvSpPr/>
          <p:nvPr/>
        </p:nvSpPr>
        <p:spPr>
          <a:xfrm>
            <a:off x="1732283" y="923264"/>
            <a:ext cx="5187602" cy="5187602"/>
          </a:xfrm>
          <a:prstGeom prst="circularArrow">
            <a:avLst>
              <a:gd name="adj1" fmla="val 5202"/>
              <a:gd name="adj2" fmla="val 336015"/>
              <a:gd name="adj3" fmla="val 8210155"/>
              <a:gd name="adj4" fmla="val 6449719"/>
              <a:gd name="adj5" fmla="val 6068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4900445"/>
              <a:satOff val="-20388"/>
              <a:lumOff val="4804"/>
              <a:alphaOff val="0"/>
            </a:schemeClr>
          </a:fillRef>
          <a:effectRef idx="3">
            <a:schemeClr val="accent4">
              <a:hueOff val="4900445"/>
              <a:satOff val="-20388"/>
              <a:lumOff val="4804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94C18E3-748A-471B-BB42-C7B1D15448A5}"/>
              </a:ext>
            </a:extLst>
          </p:cNvPr>
          <p:cNvSpPr/>
          <p:nvPr/>
        </p:nvSpPr>
        <p:spPr>
          <a:xfrm>
            <a:off x="1445360" y="3536373"/>
            <a:ext cx="1383776" cy="1383776"/>
          </a:xfrm>
          <a:custGeom>
            <a:avLst/>
            <a:gdLst>
              <a:gd name="connsiteX0" fmla="*/ 0 w 1383776"/>
              <a:gd name="connsiteY0" fmla="*/ 0 h 1383776"/>
              <a:gd name="connsiteX1" fmla="*/ 1383776 w 1383776"/>
              <a:gd name="connsiteY1" fmla="*/ 0 h 1383776"/>
              <a:gd name="connsiteX2" fmla="*/ 1383776 w 1383776"/>
              <a:gd name="connsiteY2" fmla="*/ 1383776 h 1383776"/>
              <a:gd name="connsiteX3" fmla="*/ 0 w 1383776"/>
              <a:gd name="connsiteY3" fmla="*/ 1383776 h 1383776"/>
              <a:gd name="connsiteX4" fmla="*/ 0 w 1383776"/>
              <a:gd name="connsiteY4" fmla="*/ 0 h 138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3776" h="1383776">
                <a:moveTo>
                  <a:pt x="0" y="0"/>
                </a:moveTo>
                <a:lnTo>
                  <a:pt x="1383776" y="0"/>
                </a:lnTo>
                <a:lnTo>
                  <a:pt x="1383776" y="1383776"/>
                </a:lnTo>
                <a:lnTo>
                  <a:pt x="0" y="138377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>
              <a:ln>
                <a:noFill/>
              </a:ln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2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Hà Nội đương đại</a:t>
            </a:r>
            <a:endParaRPr kumimoji="0" lang="en-US" sz="2100" b="0" i="0" u="none" strike="noStrike" kern="1200" cap="none" spc="0" normalizeH="0" baseline="0" noProof="0">
              <a:ln>
                <a:noFill/>
              </a:ln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Arrow: Circular 26">
            <a:extLst>
              <a:ext uri="{FF2B5EF4-FFF2-40B4-BE49-F238E27FC236}">
                <a16:creationId xmlns:a16="http://schemas.microsoft.com/office/drawing/2014/main" id="{CEC8C6D7-6261-4C99-B362-AC6A5117F5B5}"/>
              </a:ext>
            </a:extLst>
          </p:cNvPr>
          <p:cNvSpPr/>
          <p:nvPr/>
        </p:nvSpPr>
        <p:spPr>
          <a:xfrm>
            <a:off x="1732283" y="923264"/>
            <a:ext cx="5187602" cy="5187602"/>
          </a:xfrm>
          <a:prstGeom prst="circularArrow">
            <a:avLst>
              <a:gd name="adj1" fmla="val 5202"/>
              <a:gd name="adj2" fmla="val 336015"/>
              <a:gd name="adj3" fmla="val 12297380"/>
              <a:gd name="adj4" fmla="val 10771160"/>
              <a:gd name="adj5" fmla="val 6068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7350668"/>
              <a:satOff val="-30583"/>
              <a:lumOff val="7206"/>
              <a:alphaOff val="0"/>
            </a:schemeClr>
          </a:fillRef>
          <a:effectRef idx="3">
            <a:schemeClr val="accent4">
              <a:hueOff val="7350668"/>
              <a:satOff val="-30583"/>
              <a:lumOff val="7206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9089216-BDEE-4CF7-8514-6C7B4B1F3167}"/>
              </a:ext>
            </a:extLst>
          </p:cNvPr>
          <p:cNvSpPr/>
          <p:nvPr/>
        </p:nvSpPr>
        <p:spPr>
          <a:xfrm>
            <a:off x="2281421" y="963241"/>
            <a:ext cx="1383776" cy="1383776"/>
          </a:xfrm>
          <a:custGeom>
            <a:avLst/>
            <a:gdLst>
              <a:gd name="connsiteX0" fmla="*/ 0 w 1383776"/>
              <a:gd name="connsiteY0" fmla="*/ 0 h 1383776"/>
              <a:gd name="connsiteX1" fmla="*/ 1383776 w 1383776"/>
              <a:gd name="connsiteY1" fmla="*/ 0 h 1383776"/>
              <a:gd name="connsiteX2" fmla="*/ 1383776 w 1383776"/>
              <a:gd name="connsiteY2" fmla="*/ 1383776 h 1383776"/>
              <a:gd name="connsiteX3" fmla="*/ 0 w 1383776"/>
              <a:gd name="connsiteY3" fmla="*/ 1383776 h 1383776"/>
              <a:gd name="connsiteX4" fmla="*/ 0 w 1383776"/>
              <a:gd name="connsiteY4" fmla="*/ 0 h 138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3776" h="1383776">
                <a:moveTo>
                  <a:pt x="0" y="0"/>
                </a:moveTo>
                <a:lnTo>
                  <a:pt x="1383776" y="0"/>
                </a:lnTo>
                <a:lnTo>
                  <a:pt x="1383776" y="1383776"/>
                </a:lnTo>
                <a:lnTo>
                  <a:pt x="0" y="138377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Thời kỳ tiền Thăng Long</a:t>
            </a:r>
          </a:p>
        </p:txBody>
      </p:sp>
      <p:sp>
        <p:nvSpPr>
          <p:cNvPr id="29" name="Arrow: Circular 28">
            <a:extLst>
              <a:ext uri="{FF2B5EF4-FFF2-40B4-BE49-F238E27FC236}">
                <a16:creationId xmlns:a16="http://schemas.microsoft.com/office/drawing/2014/main" id="{04F3D768-C4D3-4CE5-BBCD-1FC58139B64C}"/>
              </a:ext>
            </a:extLst>
          </p:cNvPr>
          <p:cNvSpPr/>
          <p:nvPr/>
        </p:nvSpPr>
        <p:spPr>
          <a:xfrm>
            <a:off x="1732283" y="923264"/>
            <a:ext cx="5187602" cy="5187602"/>
          </a:xfrm>
          <a:prstGeom prst="circularArrow">
            <a:avLst>
              <a:gd name="adj1" fmla="val 5202"/>
              <a:gd name="adj2" fmla="val 336015"/>
              <a:gd name="adj3" fmla="val 16865256"/>
              <a:gd name="adj4" fmla="val 15198729"/>
              <a:gd name="adj5" fmla="val 6068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9800891"/>
              <a:satOff val="-40777"/>
              <a:lumOff val="9608"/>
              <a:alphaOff val="0"/>
            </a:schemeClr>
          </a:fillRef>
          <a:effectRef idx="3">
            <a:schemeClr val="accent4">
              <a:hueOff val="9800891"/>
              <a:satOff val="-40777"/>
              <a:lumOff val="9608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9895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4" grpId="0"/>
      <p:bldP spid="26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CDE2B-25E5-423D-8CA6-A1BC1ADCD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" y="2"/>
            <a:ext cx="9143999" cy="719221"/>
          </a:xfrm>
        </p:spPr>
        <p:txBody>
          <a:bodyPr>
            <a:normAutofit/>
          </a:bodyPr>
          <a:lstStyle/>
          <a:p>
            <a:r>
              <a:rPr lang="en-US" sz="3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0070C0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TÌNH HÌNH KINH TẾ NĂM 2024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8809DC-F3A3-4354-BAEC-C219C472E0B6}"/>
              </a:ext>
            </a:extLst>
          </p:cNvPr>
          <p:cNvSpPr/>
          <p:nvPr/>
        </p:nvSpPr>
        <p:spPr>
          <a:xfrm>
            <a:off x="0" y="6421120"/>
            <a:ext cx="9144000" cy="43688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81D09CA-D5B0-4BD9-B9B7-97B9E8C2FB4C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ound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DBFD95-76F5-4EB9-861C-6921F7973D63}"/>
              </a:ext>
            </a:extLst>
          </p:cNvPr>
          <p:cNvSpPr/>
          <p:nvPr/>
        </p:nvSpPr>
        <p:spPr>
          <a:xfrm>
            <a:off x="7930694" y="6411670"/>
            <a:ext cx="117532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 w="12700" cmpd="sng">
                  <a:solidFill>
                    <a:srgbClr val="FFC000"/>
                  </a:solidFill>
                  <a:prstDash val="solid"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4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A07F68D4-8D62-4685-AEA1-F5AFB79DEC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7016457"/>
              </p:ext>
            </p:extLst>
          </p:nvPr>
        </p:nvGraphicFramePr>
        <p:xfrm>
          <a:off x="1349787" y="1346179"/>
          <a:ext cx="6713913" cy="44385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06916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3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B8809DC-F3A3-4354-BAEC-C219C472E0B6}"/>
              </a:ext>
            </a:extLst>
          </p:cNvPr>
          <p:cNvSpPr/>
          <p:nvPr/>
        </p:nvSpPr>
        <p:spPr>
          <a:xfrm>
            <a:off x="0" y="6421120"/>
            <a:ext cx="9144000" cy="43688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D971DDC-5744-472F-AA7E-91EE0CE05497}"/>
              </a:ext>
            </a:extLst>
          </p:cNvPr>
          <p:cNvSpPr txBox="1">
            <a:spLocks/>
          </p:cNvSpPr>
          <p:nvPr/>
        </p:nvSpPr>
        <p:spPr>
          <a:xfrm>
            <a:off x="-357267" y="1676517"/>
            <a:ext cx="9858535" cy="35049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892A6D-5ABF-45F8-998E-20980AEEF96F}"/>
              </a:ext>
            </a:extLst>
          </p:cNvPr>
          <p:cNvSpPr/>
          <p:nvPr/>
        </p:nvSpPr>
        <p:spPr>
          <a:xfrm>
            <a:off x="291120" y="1087432"/>
            <a:ext cx="8561760" cy="3837382"/>
          </a:xfrm>
          <a:prstGeom prst="rect">
            <a:avLst/>
          </a:prstGeom>
          <a:noFill/>
        </p:spPr>
        <p:txBody>
          <a:bodyPr wrap="none" lIns="91440" tIns="45720" rIns="91440" bIns="45720" numCol="1">
            <a:prstTxWarp prst="textWave1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normalizeH="0" baseline="0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B32B1E-7615-40DB-9A6E-FA65E7BDCF65}"/>
              </a:ext>
            </a:extLst>
          </p:cNvPr>
          <p:cNvSpPr/>
          <p:nvPr/>
        </p:nvSpPr>
        <p:spPr>
          <a:xfrm>
            <a:off x="7930694" y="6411670"/>
            <a:ext cx="117532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 w="12700" cmpd="sng">
                  <a:solidFill>
                    <a:srgbClr val="FFC000"/>
                  </a:solidFill>
                  <a:prstDash val="solid"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5</a:t>
            </a:r>
          </a:p>
        </p:txBody>
      </p:sp>
    </p:spTree>
    <p:extLst>
      <p:ext uri="{BB962C8B-B14F-4D97-AF65-F5344CB8AC3E}">
        <p14:creationId xmlns:p14="http://schemas.microsoft.com/office/powerpoint/2010/main" val="2155762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122</Words>
  <Application>Microsoft Office PowerPoint</Application>
  <PresentationFormat>On-screen Show (4:3)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1_Office Theme</vt:lpstr>
      <vt:lpstr>3_Office Theme</vt:lpstr>
      <vt:lpstr>PowerPoint Presentation</vt:lpstr>
      <vt:lpstr>GIỚI THIỆU VỀ HÀ NỘI</vt:lpstr>
      <vt:lpstr>LỊCH SỬ PHÁT TRIỂN</vt:lpstr>
      <vt:lpstr>TÌNH HÌNH KINH TẾ NĂM 2024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PC</cp:lastModifiedBy>
  <cp:revision>10</cp:revision>
  <dcterms:created xsi:type="dcterms:W3CDTF">2024-11-24T07:02:38Z</dcterms:created>
  <dcterms:modified xsi:type="dcterms:W3CDTF">2026-04-18T13:20:03Z</dcterms:modified>
</cp:coreProperties>
</file>